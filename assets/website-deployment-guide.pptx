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62" r:id="rId4"/>
    <p:sldMasterId id="2147483664" r:id="rId5"/>
    <p:sldMasterId id="2147483666" r:id="rId6"/>
    <p:sldMasterId id="2147483668" r:id="rId7"/>
    <p:sldMasterId id="2147483670" r:id="rId8"/>
    <p:sldMasterId id="2147483672" r:id="rId9"/>
    <p:sldMasterId id="2147483674" r:id="rId10"/>
    <p:sldMasterId id="2147483676" r:id="rId11"/>
    <p:sldMasterId id="2147483678" r:id="rId12"/>
    <p:sldMasterId id="2147483680" r:id="rId13"/>
    <p:sldMasterId id="2147483682" r:id="rId14"/>
    <p:sldMasterId id="2147483684" r:id="rId15"/>
    <p:sldMasterId id="2147483686" r:id="rId16"/>
    <p:sldMasterId id="2147483688" r:id="rId17"/>
    <p:sldMasterId id="2147483690" r:id="rId18"/>
    <p:sldMasterId id="2147483692" r:id="rId19"/>
    <p:sldMasterId id="2147483694" r:id="rId20"/>
    <p:sldMasterId id="2147483696" r:id="rId21"/>
    <p:sldMasterId id="2147483698" r:id="rId22"/>
    <p:sldMasterId id="2147483700" r:id="rId23"/>
    <p:sldMasterId id="2147483702" r:id="rId24"/>
    <p:sldMasterId id="2147483704" r:id="rId25"/>
    <p:sldMasterId id="2147483706" r:id="rId26"/>
    <p:sldMasterId id="2147483708" r:id="rId27"/>
    <p:sldMasterId id="2147483710" r:id="rId28"/>
    <p:sldMasterId id="2147483712" r:id="rId29"/>
    <p:sldMasterId id="2147483714" r:id="rId30"/>
    <p:sldMasterId id="2147483716" r:id="rId31"/>
    <p:sldMasterId id="2147483718" r:id="rId32"/>
    <p:sldMasterId id="2147483720" r:id="rId33"/>
    <p:sldMasterId id="2147483722" r:id="rId34"/>
  </p:sldMasterIdLst>
  <p:notesMasterIdLst>
    <p:notesMasterId r:id="rId36"/>
  </p:notesMasterIdLst>
  <p:sldIdLst>
    <p:sldId id="256" r:id="rId35"/>
    <p:sldId id="257" r:id="rId37"/>
    <p:sldId id="258" r:id="rId38"/>
    <p:sldId id="259" r:id="rId39"/>
    <p:sldId id="260" r:id="rId40"/>
    <p:sldId id="261" r:id="rId41"/>
    <p:sldId id="262" r:id="rId42"/>
    <p:sldId id="263" r:id="rId43"/>
    <p:sldId id="264" r:id="rId44"/>
    <p:sldId id="265" r:id="rId45"/>
    <p:sldId id="266" r:id="rId46"/>
    <p:sldId id="267" r:id="rId47"/>
    <p:sldId id="268" r:id="rId48"/>
    <p:sldId id="269" r:id="rId49"/>
    <p:sldId id="270" r:id="rId50"/>
    <p:sldId id="271" r:id="rId51"/>
    <p:sldId id="272" r:id="rId52"/>
    <p:sldId id="273" r:id="rId53"/>
    <p:sldId id="274" r:id="rId54"/>
    <p:sldId id="275" r:id="rId55"/>
    <p:sldId id="276" r:id="rId56"/>
    <p:sldId id="277" r:id="rId57"/>
    <p:sldId id="278" r:id="rId58"/>
    <p:sldId id="279" r:id="rId59"/>
    <p:sldId id="280" r:id="rId60"/>
    <p:sldId id="281" r:id="rId61"/>
    <p:sldId id="282" r:id="rId62"/>
    <p:sldId id="283" r:id="rId63"/>
    <p:sldId id="284" r:id="rId64"/>
    <p:sldId id="285" r:id="rId65"/>
    <p:sldId id="286" r:id="rId66"/>
    <p:sldId id="287" r:id="rId67"/>
    <p:sldId id="288" r:id="rId6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4" userDrawn="1">
          <p15:clr>
            <a:srgbClr val="747775"/>
          </p15:clr>
        </p15:guide>
        <p15:guide id="2" pos="2848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4"/>
        <p:guide pos="2848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1" Type="http://schemas.openxmlformats.org/officeDocument/2006/relationships/tableStyles" Target="tableStyles.xml"/><Relationship Id="rId70" Type="http://schemas.openxmlformats.org/officeDocument/2006/relationships/viewProps" Target="viewProps.xml"/><Relationship Id="rId7" Type="http://schemas.openxmlformats.org/officeDocument/2006/relationships/slideMaster" Target="slideMasters/slideMaster6.xml"/><Relationship Id="rId69" Type="http://schemas.openxmlformats.org/officeDocument/2006/relationships/presProps" Target="presProps.xml"/><Relationship Id="rId68" Type="http://schemas.openxmlformats.org/officeDocument/2006/relationships/slide" Target="slides/slide33.xml"/><Relationship Id="rId67" Type="http://schemas.openxmlformats.org/officeDocument/2006/relationships/slide" Target="slides/slide32.xml"/><Relationship Id="rId66" Type="http://schemas.openxmlformats.org/officeDocument/2006/relationships/slide" Target="slides/slide31.xml"/><Relationship Id="rId65" Type="http://schemas.openxmlformats.org/officeDocument/2006/relationships/slide" Target="slides/slide30.xml"/><Relationship Id="rId64" Type="http://schemas.openxmlformats.org/officeDocument/2006/relationships/slide" Target="slides/slide29.xml"/><Relationship Id="rId63" Type="http://schemas.openxmlformats.org/officeDocument/2006/relationships/slide" Target="slides/slide28.xml"/><Relationship Id="rId62" Type="http://schemas.openxmlformats.org/officeDocument/2006/relationships/slide" Target="slides/slide27.xml"/><Relationship Id="rId61" Type="http://schemas.openxmlformats.org/officeDocument/2006/relationships/slide" Target="slides/slide26.xml"/><Relationship Id="rId60" Type="http://schemas.openxmlformats.org/officeDocument/2006/relationships/slide" Target="slides/slide25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24.xml"/><Relationship Id="rId58" Type="http://schemas.openxmlformats.org/officeDocument/2006/relationships/slide" Target="slides/slide23.xml"/><Relationship Id="rId57" Type="http://schemas.openxmlformats.org/officeDocument/2006/relationships/slide" Target="slides/slide22.xml"/><Relationship Id="rId56" Type="http://schemas.openxmlformats.org/officeDocument/2006/relationships/slide" Target="slides/slide21.xml"/><Relationship Id="rId55" Type="http://schemas.openxmlformats.org/officeDocument/2006/relationships/slide" Target="slides/slide20.xml"/><Relationship Id="rId54" Type="http://schemas.openxmlformats.org/officeDocument/2006/relationships/slide" Target="slides/slide19.xml"/><Relationship Id="rId53" Type="http://schemas.openxmlformats.org/officeDocument/2006/relationships/slide" Target="slides/slide18.xml"/><Relationship Id="rId52" Type="http://schemas.openxmlformats.org/officeDocument/2006/relationships/slide" Target="slides/slide17.xml"/><Relationship Id="rId51" Type="http://schemas.openxmlformats.org/officeDocument/2006/relationships/slide" Target="slides/slide16.xml"/><Relationship Id="rId50" Type="http://schemas.openxmlformats.org/officeDocument/2006/relationships/slide" Target="slides/slide15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14.xml"/><Relationship Id="rId48" Type="http://schemas.openxmlformats.org/officeDocument/2006/relationships/slide" Target="slides/slide13.xml"/><Relationship Id="rId47" Type="http://schemas.openxmlformats.org/officeDocument/2006/relationships/slide" Target="slides/slide12.xml"/><Relationship Id="rId46" Type="http://schemas.openxmlformats.org/officeDocument/2006/relationships/slide" Target="slides/slide11.xml"/><Relationship Id="rId45" Type="http://schemas.openxmlformats.org/officeDocument/2006/relationships/slide" Target="slides/slide10.xml"/><Relationship Id="rId44" Type="http://schemas.openxmlformats.org/officeDocument/2006/relationships/slide" Target="slides/slide9.xml"/><Relationship Id="rId43" Type="http://schemas.openxmlformats.org/officeDocument/2006/relationships/slide" Target="slides/slide8.xml"/><Relationship Id="rId42" Type="http://schemas.openxmlformats.org/officeDocument/2006/relationships/slide" Target="slides/slide7.xml"/><Relationship Id="rId41" Type="http://schemas.openxmlformats.org/officeDocument/2006/relationships/slide" Target="slides/slide6.xml"/><Relationship Id="rId40" Type="http://schemas.openxmlformats.org/officeDocument/2006/relationships/slide" Target="slides/slide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4.xml"/><Relationship Id="rId38" Type="http://schemas.openxmlformats.org/officeDocument/2006/relationships/slide" Target="slides/slide3.xml"/><Relationship Id="rId37" Type="http://schemas.openxmlformats.org/officeDocument/2006/relationships/slide" Target="slides/slide2.xml"/><Relationship Id="rId36" Type="http://schemas.openxmlformats.org/officeDocument/2006/relationships/notesMaster" Target="notesMasters/notesMaster1.xml"/><Relationship Id="rId35" Type="http://schemas.openxmlformats.org/officeDocument/2006/relationships/slide" Target="slides/slide1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2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2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2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2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3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3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3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3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3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4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4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45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4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4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5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5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59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6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6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66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67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6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7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7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7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7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8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8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8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8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8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8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8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8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9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9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9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9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9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9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9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0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0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0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0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0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0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0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1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1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1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15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1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1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1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1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2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2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2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2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2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29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3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3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3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3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36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37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3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3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4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4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4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4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4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4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5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5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5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5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5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5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5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5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6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6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6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6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6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6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6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7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7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7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7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7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8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8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8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85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8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8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8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8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9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9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9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9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99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20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20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20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0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206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207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20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20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21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21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21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21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22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22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22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22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2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22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22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22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我的分享到此结束，感谢大家的聆听。现在是问答环节，大家有任何关于网站部署的问题，都可以提出来，我们一起交流探讨。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23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3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BJEC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_OBJECTS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TWO_OBJECTS_WITH_TEXT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5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7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OBJECT_WITH_CAPTION_TEXT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3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4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_WITH_CAPTION_TEXT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60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1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VERTICAL_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_TITLE_AND_VERTICAL_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2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24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25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26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27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28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29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30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31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32.xml"/></Relationships>
</file>

<file path=ppt/slideMasters/_rels/slideMaster23.xml.rels><?xml version="1.0" encoding="UTF-8" standalone="yes"?>
<Relationships xmlns="http://schemas.openxmlformats.org/package/2006/relationships"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33.xml"/></Relationships>
</file>

<file path=ppt/slideMasters/_rels/slideMaster24.xml.rels><?xml version="1.0" encoding="UTF-8" standalone="yes"?>
<Relationships xmlns="http://schemas.openxmlformats.org/package/2006/relationships"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34.xml"/></Relationships>
</file>

<file path=ppt/slideMasters/_rels/slideMaster25.xml.rels><?xml version="1.0" encoding="UTF-8" standalone="yes"?>
<Relationships xmlns="http://schemas.openxmlformats.org/package/2006/relationships"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35.xml"/></Relationships>
</file>

<file path=ppt/slideMasters/_rels/slideMaster26.xml.rels><?xml version="1.0" encoding="UTF-8" standalone="yes"?>
<Relationships xmlns="http://schemas.openxmlformats.org/package/2006/relationships"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36.xml"/></Relationships>
</file>

<file path=ppt/slideMasters/_rels/slideMaster27.xml.rels><?xml version="1.0" encoding="UTF-8" standalone="yes"?>
<Relationships xmlns="http://schemas.openxmlformats.org/package/2006/relationships"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37.xml"/></Relationships>
</file>

<file path=ppt/slideMasters/_rels/slideMaster28.xml.rels><?xml version="1.0" encoding="UTF-8" standalone="yes"?>
<Relationships xmlns="http://schemas.openxmlformats.org/package/2006/relationships"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38.xml"/></Relationships>
</file>

<file path=ppt/slideMasters/_rels/slideMaster29.xml.rels><?xml version="1.0" encoding="UTF-8" standalone="yes"?>
<Relationships xmlns="http://schemas.openxmlformats.org/package/2006/relationships"><Relationship Id="rId2" Type="http://schemas.openxmlformats.org/officeDocument/2006/relationships/theme" Target="../theme/theme29.xml"/><Relationship Id="rId1" Type="http://schemas.openxmlformats.org/officeDocument/2006/relationships/slideLayout" Target="../slideLayouts/slideLayout39.xml"/></Relationships>
</file>

<file path=ppt/slideMasters/_rels/slideMaster30.xml.rels><?xml version="1.0" encoding="UTF-8" standalone="yes"?>
<Relationships xmlns="http://schemas.openxmlformats.org/package/2006/relationships"><Relationship Id="rId2" Type="http://schemas.openxmlformats.org/officeDocument/2006/relationships/theme" Target="../theme/theme30.xml"/><Relationship Id="rId1" Type="http://schemas.openxmlformats.org/officeDocument/2006/relationships/slideLayout" Target="../slideLayouts/slideLayout40.xml"/></Relationships>
</file>

<file path=ppt/slideMasters/_rels/slideMaster31.xml.rels><?xml version="1.0" encoding="UTF-8" standalone="yes"?>
<Relationships xmlns="http://schemas.openxmlformats.org/package/2006/relationships"><Relationship Id="rId2" Type="http://schemas.openxmlformats.org/officeDocument/2006/relationships/theme" Target="../theme/theme31.xml"/><Relationship Id="rId1" Type="http://schemas.openxmlformats.org/officeDocument/2006/relationships/slideLayout" Target="../slideLayouts/slideLayout41.xml"/></Relationships>
</file>

<file path=ppt/slideMasters/_rels/slideMaster32.xml.rels><?xml version="1.0" encoding="UTF-8" standalone="yes"?>
<Relationships xmlns="http://schemas.openxmlformats.org/package/2006/relationships"><Relationship Id="rId2" Type="http://schemas.openxmlformats.org/officeDocument/2006/relationships/theme" Target="../theme/theme32.xml"/><Relationship Id="rId1" Type="http://schemas.openxmlformats.org/officeDocument/2006/relationships/slideLayout" Target="../slideLayouts/slideLayout42.xml"/></Relationships>
</file>

<file path=ppt/slideMasters/_rels/slideMaster3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3.xml"/><Relationship Id="rId1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3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4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5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6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1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1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1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1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1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2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2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41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42.xml"/><Relationship Id="rId2" Type="http://schemas.openxmlformats.org/officeDocument/2006/relationships/image" Target="../media/image4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3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4.xml"/><Relationship Id="rId2" Type="http://schemas.openxmlformats.org/officeDocument/2006/relationships/hyperlink" Target="https://home.console.aliyun.com" TargetMode="Externa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5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7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8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5.xml"/><Relationship Id="rId2" Type="http://schemas.openxmlformats.org/officeDocument/2006/relationships/image" Target="../media/image9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36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37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38.xml"/><Relationship Id="rId2" Type="http://schemas.openxmlformats.org/officeDocument/2006/relationships/image" Target="../media/image14.pn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39.xml"/><Relationship Id="rId2" Type="http://schemas.openxmlformats.org/officeDocument/2006/relationships/image" Target="../media/image15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6.jpe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7.pn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30.xml"/><Relationship Id="rId6" Type="http://schemas.openxmlformats.org/officeDocument/2006/relationships/image" Target="../media/image22.png"/><Relationship Id="rId5" Type="http://schemas.openxmlformats.org/officeDocument/2006/relationships/image" Target="../media/image21.jpe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image" Target="../media/image29.png"/><Relationship Id="rId7" Type="http://schemas.openxmlformats.org/officeDocument/2006/relationships/image" Target="../media/image28.png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0" Type="http://schemas.openxmlformats.org/officeDocument/2006/relationships/notesSlide" Target="../notesSlides/notesSlide19.xml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3.xml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34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21.xml"/><Relationship Id="rId2" Type="http://schemas.openxmlformats.org/officeDocument/2006/relationships/image" Target="../media/image34.png"/><Relationship Id="rId1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35.png"/><Relationship Id="rId1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23.xml"/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24.xml"/><Relationship Id="rId3" Type="http://schemas.openxmlformats.org/officeDocument/2006/relationships/image" Target="../media/image39.png"/><Relationship Id="rId2" Type="http://schemas.openxmlformats.org/officeDocument/2006/relationships/image" Target="../media/image38.jpeg"/><Relationship Id="rId1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25.xml"/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image" Target="../media/image2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9.xml"/><Relationship Id="rId7" Type="http://schemas.openxmlformats.org/officeDocument/2006/relationships/slideLayout" Target="../slideLayouts/slideLayout27.xml"/><Relationship Id="rId6" Type="http://schemas.openxmlformats.org/officeDocument/2006/relationships/hyperlink" Target="https://zhanzhang.sm.cn" TargetMode="External"/><Relationship Id="rId5" Type="http://schemas.openxmlformats.org/officeDocument/2006/relationships/hyperlink" Target="https://zhanzhang.sogou.com" TargetMode="External"/><Relationship Id="rId4" Type="http://schemas.openxmlformats.org/officeDocument/2006/relationships/hyperlink" Target="https://zhanzhang.so.com" TargetMode="External"/><Relationship Id="rId3" Type="http://schemas.openxmlformats.org/officeDocument/2006/relationships/hyperlink" Target="https://www.bing.com/webmasters" TargetMode="External"/><Relationship Id="rId2" Type="http://schemas.openxmlformats.org/officeDocument/2006/relationships/hyperlink" Target="https://ziyuan.baidu.com" TargetMode="External"/><Relationship Id="rId1" Type="http://schemas.openxmlformats.org/officeDocument/2006/relationships/image" Target="../media/image2.jpe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28.xml"/><Relationship Id="rId2" Type="http://schemas.openxmlformats.org/officeDocument/2006/relationships/image" Target="../media/image42.jpeg"/><Relationship Id="rId1" Type="http://schemas.openxmlformats.org/officeDocument/2006/relationships/image" Target="../media/image2.jpe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29.xml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2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40.xml"/><Relationship Id="rId1" Type="http://schemas.openxmlformats.org/officeDocument/2006/relationships/image" Target="../media/image2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245745" y="1651000"/>
            <a:ext cx="1016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6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网站部署全流程操作指南</a:t>
            </a:r>
            <a:endParaRPr lang="en-US" sz="6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文本框 2"/>
          <p:cNvSpPr txBox="1"/>
          <p:nvPr/>
        </p:nvSpPr>
        <p:spPr>
          <a:xfrm>
            <a:off x="384810" y="448310"/>
            <a:ext cx="4292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bg1"/>
                </a:solidFill>
              </a:rPr>
              <a:t>部署目的与必要性</a:t>
            </a:r>
            <a:endParaRPr lang="zh-CN" altLang="en-US" sz="3600">
              <a:solidFill>
                <a:schemeClr val="bg1"/>
              </a:solidFill>
            </a:endParaRPr>
          </a:p>
        </p:txBody>
      </p:sp>
      <p:sp>
        <p:nvSpPr>
          <p:cNvPr id="7" name="文本框 3"/>
          <p:cNvSpPr txBox="1"/>
          <p:nvPr/>
        </p:nvSpPr>
        <p:spPr>
          <a:xfrm>
            <a:off x="384810" y="1011555"/>
            <a:ext cx="1148461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部署网站的目的是使任意设备均可通过浏览器访问站点内容。</a:t>
            </a:r>
            <a:endParaRPr lang="zh-CN" altLang="en-US" sz="1800">
              <a:solidFill>
                <a:schemeClr val="bg1"/>
              </a:solidFill>
            </a:endParaRPr>
          </a:p>
          <a:p>
            <a:r>
              <a:rPr lang="zh-CN" altLang="en-US" sz="1800">
                <a:solidFill>
                  <a:schemeClr val="bg1"/>
                </a:solidFill>
              </a:rPr>
              <a:t>本地开发阶段虽可在浏览器中预览，但访问地址 http://localhost:端口 或 http://127.0.0.1:端口 仅指向本机运行的程序，仅当前计算机可访问。</a:t>
            </a:r>
            <a:endParaRPr lang="zh-CN" altLang="en-US" sz="1800">
              <a:solidFill>
                <a:schemeClr val="bg1"/>
              </a:solidFill>
            </a:endParaRPr>
          </a:p>
          <a:p>
            <a:r>
              <a:rPr lang="zh-CN" altLang="en-US" sz="1800">
                <a:solidFill>
                  <a:schemeClr val="bg1"/>
                </a:solidFill>
              </a:rPr>
              <a:t>因此，需将项目部署至具备公网 IP 的服务器，方可对外提供服务。</a:t>
            </a:r>
            <a:endParaRPr lang="en-US" altLang="zh-CN" sz="1800">
              <a:solidFill>
                <a:schemeClr val="bg1"/>
              </a:solidFill>
            </a:endParaRPr>
          </a:p>
        </p:txBody>
      </p:sp>
      <p:pic>
        <p:nvPicPr>
          <p:cNvPr id="8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90" y="2153920"/>
            <a:ext cx="7908925" cy="4704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文本框 2"/>
          <p:cNvSpPr txBox="1"/>
          <p:nvPr/>
        </p:nvSpPr>
        <p:spPr>
          <a:xfrm>
            <a:off x="384810" y="448310"/>
            <a:ext cx="4292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bg1"/>
                </a:solidFill>
              </a:rPr>
              <a:t>本地地址的局限性</a:t>
            </a:r>
            <a:endParaRPr lang="zh-CN" altLang="en-US" sz="3600">
              <a:solidFill>
                <a:schemeClr val="bg1"/>
              </a:solidFill>
            </a:endParaRPr>
          </a:p>
        </p:txBody>
      </p:sp>
      <p:sp>
        <p:nvSpPr>
          <p:cNvPr id="12" name="文本框 3"/>
          <p:cNvSpPr txBox="1"/>
          <p:nvPr/>
        </p:nvSpPr>
        <p:spPr>
          <a:xfrm>
            <a:off x="514350" y="1159510"/>
            <a:ext cx="114846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 sz="1800">
              <a:solidFill>
                <a:schemeClr val="bg1"/>
              </a:solidFill>
            </a:endParaRPr>
          </a:p>
          <a:p>
            <a:endParaRPr lang="zh-CN" altLang="en-US" sz="1800">
              <a:solidFill>
                <a:schemeClr val="bg1"/>
              </a:solidFill>
            </a:endParaRPr>
          </a:p>
        </p:txBody>
      </p:sp>
      <p:sp>
        <p:nvSpPr>
          <p:cNvPr id="13" name="文本框 4"/>
          <p:cNvSpPr txBox="1"/>
          <p:nvPr/>
        </p:nvSpPr>
        <p:spPr>
          <a:xfrm>
            <a:off x="510540" y="1250950"/>
            <a:ext cx="80219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若将上述本地地址发送给其他用户，对方无法访问。</a:t>
            </a:r>
            <a:endParaRPr lang="zh-CN" altLang="en-US" sz="1800">
              <a:solidFill>
                <a:schemeClr val="bg1"/>
              </a:solidFill>
              <a:sym typeface="+mn-ea"/>
            </a:endParaRPr>
          </a:p>
          <a:p>
            <a:r>
              <a:rPr lang="zh-CN" altLang="en-US" sz="1800">
                <a:solidFill>
                  <a:schemeClr val="bg1"/>
                </a:solidFill>
              </a:rPr>
              <a:t>要解决此问题，必须将项目部署至公网服务器。</a:t>
            </a:r>
            <a:endParaRPr lang="zh-CN" altLang="en-US" sz="1800">
              <a:solidFill>
                <a:schemeClr val="bg1"/>
              </a:solidFill>
              <a:sym typeface="+mn-ea"/>
            </a:endParaRPr>
          </a:p>
        </p:txBody>
      </p:sp>
      <p:pic>
        <p:nvPicPr>
          <p:cNvPr id="14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10" y="2143125"/>
            <a:ext cx="7950835" cy="455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文本框 2"/>
          <p:cNvSpPr txBox="1"/>
          <p:nvPr/>
        </p:nvSpPr>
        <p:spPr>
          <a:xfrm>
            <a:off x="384810" y="448310"/>
            <a:ext cx="4292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bg1"/>
                </a:solidFill>
              </a:rPr>
              <a:t>网站部署原理</a:t>
            </a:r>
            <a:endParaRPr lang="zh-CN" altLang="en-US" sz="3600">
              <a:solidFill>
                <a:schemeClr val="bg1"/>
              </a:solidFill>
            </a:endParaRPr>
          </a:p>
        </p:txBody>
      </p:sp>
      <p:sp>
        <p:nvSpPr>
          <p:cNvPr id="18" name="文本框 3"/>
          <p:cNvSpPr txBox="1"/>
          <p:nvPr/>
        </p:nvSpPr>
        <p:spPr>
          <a:xfrm>
            <a:off x="514350" y="1159510"/>
            <a:ext cx="9388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即准备一台持续在线的服务器，运行后端程序并允许外部设备访问。</a:t>
            </a:r>
            <a:endParaRPr lang="zh-CN" altLang="en-US" sz="1800">
              <a:solidFill>
                <a:schemeClr val="bg1"/>
              </a:solidFill>
            </a:endParaRPr>
          </a:p>
        </p:txBody>
      </p:sp>
      <p:sp>
        <p:nvSpPr>
          <p:cNvPr id="19" name="文本框 4"/>
          <p:cNvSpPr txBox="1"/>
          <p:nvPr/>
        </p:nvSpPr>
        <p:spPr>
          <a:xfrm>
            <a:off x="502920" y="1593850"/>
            <a:ext cx="942276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类比：代码在本机运行时，浏览器可直接访问本机程序；部署后通过开放端口，允许外部设备访问。</a:t>
            </a:r>
            <a:endParaRPr lang="zh-CN" altLang="en-US" sz="1800">
              <a:solidFill>
                <a:schemeClr val="bg1"/>
              </a:solidFill>
            </a:endParaRPr>
          </a:p>
          <a:p>
            <a:r>
              <a:rPr lang="zh-CN" altLang="en-US" sz="1800">
                <a:solidFill>
                  <a:schemeClr val="bg1"/>
                </a:solidFill>
              </a:rPr>
              <a:t>也可通过内网穿透实现外网访问，但该方式依赖中转服务器，存在带宽与稳定性限制，且不会为本机分配公网 IP。</a:t>
            </a:r>
            <a:endParaRPr lang="en-US" altLang="zh-CN" sz="1800">
              <a:solidFill>
                <a:schemeClr val="bg1"/>
              </a:solidFill>
            </a:endParaRPr>
          </a:p>
          <a:p>
            <a:r>
              <a:rPr lang="zh-CN" altLang="en-US" sz="1800">
                <a:solidFill>
                  <a:schemeClr val="bg1"/>
                </a:solidFill>
              </a:rPr>
              <a:t>推荐采用云服务器，其自带公网 IP，配置简单、稳定性高，适合正式部署。</a:t>
            </a:r>
            <a:endParaRPr lang="zh-CN" altLang="en-US" sz="18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文本框 2"/>
          <p:cNvSpPr txBox="1"/>
          <p:nvPr/>
        </p:nvSpPr>
        <p:spPr>
          <a:xfrm>
            <a:off x="384810" y="448310"/>
            <a:ext cx="4292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bg1"/>
                </a:solidFill>
              </a:rPr>
              <a:t>网站类型与部署方式</a:t>
            </a:r>
            <a:endParaRPr lang="zh-CN" altLang="en-US" sz="3600">
              <a:solidFill>
                <a:schemeClr val="bg1"/>
              </a:solidFill>
            </a:endParaRPr>
          </a:p>
        </p:txBody>
      </p:sp>
      <p:sp>
        <p:nvSpPr>
          <p:cNvPr id="23" name="文本框 3"/>
          <p:cNvSpPr txBox="1"/>
          <p:nvPr/>
        </p:nvSpPr>
        <p:spPr>
          <a:xfrm>
            <a:off x="514350" y="1159510"/>
            <a:ext cx="1032129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按运行方式，网站分为静态网站与动态网站两类。</a:t>
            </a:r>
            <a:endParaRPr lang="zh-CN" altLang="en-US" sz="1800">
              <a:solidFill>
                <a:schemeClr val="bg1"/>
              </a:solidFill>
            </a:endParaRPr>
          </a:p>
          <a:p>
            <a:r>
              <a:rPr lang="zh-CN" altLang="en-US" sz="1800">
                <a:solidFill>
                  <a:schemeClr val="bg1"/>
                </a:solidFill>
              </a:rPr>
              <a:t>静态网站：可直接托管至 GitHub Pages 等平台，操作简便、零成本；缺点是访问稳定性受平台限制。</a:t>
            </a:r>
            <a:endParaRPr lang="zh-CN" altLang="en-US" sz="1800">
              <a:solidFill>
                <a:schemeClr val="bg1"/>
              </a:solidFill>
            </a:endParaRPr>
          </a:p>
          <a:p>
            <a:r>
              <a:rPr lang="zh-CN" altLang="en-US" sz="1800">
                <a:solidFill>
                  <a:schemeClr val="bg1"/>
                </a:solidFill>
              </a:rPr>
              <a:t>动态网站：包含前端与后端程序，约束较多，可通过云平台组合方案部署。</a:t>
            </a:r>
            <a:endParaRPr lang="zh-CN" altLang="en-US" sz="1800">
              <a:solidFill>
                <a:schemeClr val="bg1"/>
              </a:solidFill>
            </a:endParaRPr>
          </a:p>
          <a:p>
            <a:r>
              <a:rPr lang="zh-CN" altLang="en-US" sz="1800">
                <a:solidFill>
                  <a:schemeClr val="bg1"/>
                </a:solidFill>
              </a:rPr>
              <a:t>通用方案：购买云服务器自行部署，适用范围最广，适合正式项目。</a:t>
            </a:r>
            <a:endParaRPr lang="zh-CN" altLang="en-US" sz="1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AutoShape 2"/>
          <p:cNvSpPr/>
          <p:nvPr/>
        </p:nvSpPr>
        <p:spPr>
          <a:xfrm>
            <a:off x="-4445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/>
              <a:t> </a:t>
            </a:r>
            <a:endParaRPr lang="en-US"/>
          </a:p>
        </p:txBody>
      </p:sp>
      <p:sp>
        <p:nvSpPr>
          <p:cNvPr id="26" name="文本框 2"/>
          <p:cNvSpPr txBox="1"/>
          <p:nvPr/>
        </p:nvSpPr>
        <p:spPr>
          <a:xfrm>
            <a:off x="317500" y="292100"/>
            <a:ext cx="89401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bg1"/>
                </a:solidFill>
              </a:rPr>
              <a:t>方案二：前端 + 后端正式发布</a:t>
            </a:r>
            <a:endParaRPr lang="zh-CN" altLang="en-US" sz="3600">
              <a:solidFill>
                <a:schemeClr val="bg1"/>
              </a:solidFill>
            </a:endParaRPr>
          </a:p>
        </p:txBody>
      </p:sp>
      <p:sp>
        <p:nvSpPr>
          <p:cNvPr id="27" name="文本框 3"/>
          <p:cNvSpPr txBox="1"/>
          <p:nvPr/>
        </p:nvSpPr>
        <p:spPr>
          <a:xfrm>
            <a:off x="488950" y="1206500"/>
            <a:ext cx="49974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方案组成：云服务器 + 域名 + 证书</a:t>
            </a:r>
            <a:endParaRPr lang="zh-CN" altLang="en-US" sz="1800">
              <a:solidFill>
                <a:schemeClr val="bg1"/>
              </a:solidFill>
            </a:endParaRPr>
          </a:p>
        </p:txBody>
      </p:sp>
      <p:sp>
        <p:nvSpPr>
          <p:cNvPr id="28" name="文本框 4"/>
          <p:cNvSpPr txBox="1"/>
          <p:nvPr/>
        </p:nvSpPr>
        <p:spPr>
          <a:xfrm>
            <a:off x="603250" y="1701800"/>
            <a:ext cx="805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推荐平台：阿里云 ECS、腾讯云 CVM（本指南以阿里云为例）</a:t>
            </a:r>
            <a:endParaRPr lang="zh-CN" altLang="en-US" sz="1800">
              <a:solidFill>
                <a:schemeClr val="bg1"/>
              </a:solidFill>
            </a:endParaRPr>
          </a:p>
        </p:txBody>
      </p:sp>
      <p:sp>
        <p:nvSpPr>
          <p:cNvPr id="29" name="文本框 5"/>
          <p:cNvSpPr txBox="1"/>
          <p:nvPr/>
        </p:nvSpPr>
        <p:spPr>
          <a:xfrm>
            <a:off x="603250" y="2136140"/>
            <a:ext cx="104673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>
                <a:solidFill>
                  <a:schemeClr val="bg1"/>
                </a:solidFill>
              </a:rPr>
              <a:t>控制台入口：</a:t>
            </a:r>
            <a:r>
              <a:rPr lang="en-US" altLang="zh-CN" sz="1800">
                <a:solidFill>
                  <a:schemeClr val="bg1"/>
                </a:solidFill>
                <a:hlinkClick r:id="rId2"/>
              </a:rPr>
              <a:t>https://home.console.aliyun.com</a:t>
            </a:r>
            <a:endParaRPr lang="en-US" altLang="zh-CN" sz="1800">
              <a:solidFill>
                <a:schemeClr val="bg1"/>
              </a:solidFill>
            </a:endParaRPr>
          </a:p>
        </p:txBody>
      </p:sp>
      <p:sp>
        <p:nvSpPr>
          <p:cNvPr id="30" name="文本框 6"/>
          <p:cNvSpPr txBox="1"/>
          <p:nvPr/>
        </p:nvSpPr>
        <p:spPr>
          <a:xfrm>
            <a:off x="661035" y="2661920"/>
            <a:ext cx="87102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阿里云 ECS 建站配套完善，更适用于网站部署场景。</a:t>
            </a:r>
            <a:endParaRPr lang="zh-CN" altLang="en-US" sz="1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45" y="1736725"/>
            <a:ext cx="8796655" cy="4831080"/>
          </a:xfrm>
          <a:prstGeom prst="rect">
            <a:avLst/>
          </a:prstGeom>
        </p:spPr>
      </p:pic>
      <p:sp>
        <p:nvSpPr>
          <p:cNvPr id="34" name="文本框 3"/>
          <p:cNvSpPr txBox="1"/>
          <p:nvPr/>
        </p:nvSpPr>
        <p:spPr>
          <a:xfrm>
            <a:off x="139065" y="1024255"/>
            <a:ext cx="7348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使用支付宝账号登录并完成实名认证（扫码即可）。</a:t>
            </a:r>
            <a:endParaRPr lang="zh-CN" altLang="en-US" sz="1800">
              <a:solidFill>
                <a:schemeClr val="bg1"/>
              </a:solidFill>
            </a:endParaRPr>
          </a:p>
        </p:txBody>
      </p:sp>
      <p:pic>
        <p:nvPicPr>
          <p:cNvPr id="3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965" y="1736725"/>
            <a:ext cx="9281160" cy="4830445"/>
          </a:xfrm>
          <a:prstGeom prst="rect">
            <a:avLst/>
          </a:prstGeom>
        </p:spPr>
      </p:pic>
      <p:sp>
        <p:nvSpPr>
          <p:cNvPr id="36" name="文本框 5"/>
          <p:cNvSpPr txBox="1"/>
          <p:nvPr/>
        </p:nvSpPr>
        <p:spPr>
          <a:xfrm>
            <a:off x="410210" y="134620"/>
            <a:ext cx="3725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bg1"/>
                </a:solidFill>
              </a:rPr>
              <a:t>阿里云 ECS</a:t>
            </a:r>
            <a:endParaRPr lang="zh-CN" altLang="en-US" sz="3600">
              <a:solidFill>
                <a:schemeClr val="bg1"/>
              </a:solidFill>
            </a:endParaRPr>
          </a:p>
        </p:txBody>
      </p:sp>
      <p:sp>
        <p:nvSpPr>
          <p:cNvPr id="37" name="矩形 7"/>
          <p:cNvSpPr/>
          <p:nvPr/>
        </p:nvSpPr>
        <p:spPr>
          <a:xfrm>
            <a:off x="3561080" y="3649980"/>
            <a:ext cx="2851785" cy="1267460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文本框 5"/>
          <p:cNvSpPr txBox="1"/>
          <p:nvPr/>
        </p:nvSpPr>
        <p:spPr>
          <a:xfrm>
            <a:off x="410210" y="134620"/>
            <a:ext cx="3725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bg1"/>
                </a:solidFill>
              </a:rPr>
              <a:t>阿里云 ECS</a:t>
            </a:r>
            <a:endParaRPr lang="zh-CN" altLang="en-US" sz="3600">
              <a:solidFill>
                <a:schemeClr val="bg1"/>
              </a:solidFill>
            </a:endParaRPr>
          </a:p>
        </p:txBody>
      </p:sp>
      <p:pic>
        <p:nvPicPr>
          <p:cNvPr id="41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710" y="1373505"/>
            <a:ext cx="10084435" cy="5586095"/>
          </a:xfrm>
          <a:prstGeom prst="rect">
            <a:avLst/>
          </a:prstGeom>
        </p:spPr>
      </p:pic>
      <p:sp>
        <p:nvSpPr>
          <p:cNvPr id="42" name="文本框 3"/>
          <p:cNvSpPr txBox="1"/>
          <p:nvPr/>
        </p:nvSpPr>
        <p:spPr>
          <a:xfrm>
            <a:off x="351155" y="778510"/>
            <a:ext cx="7942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ECS 需付费购买，新用户可申请免费试用，用于熟悉部署流程。</a:t>
            </a:r>
            <a:endParaRPr lang="zh-CN" altLang="en-US" sz="1800">
              <a:solidFill>
                <a:schemeClr val="bg1"/>
              </a:solidFill>
            </a:endParaRPr>
          </a:p>
        </p:txBody>
      </p:sp>
      <p:sp>
        <p:nvSpPr>
          <p:cNvPr id="43" name="矩形 4"/>
          <p:cNvSpPr/>
          <p:nvPr/>
        </p:nvSpPr>
        <p:spPr>
          <a:xfrm>
            <a:off x="1844040" y="1373505"/>
            <a:ext cx="3889375" cy="1422400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6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965" y="1187450"/>
            <a:ext cx="9246235" cy="5112385"/>
          </a:xfrm>
          <a:prstGeom prst="rect">
            <a:avLst/>
          </a:prstGeom>
        </p:spPr>
      </p:pic>
      <p:sp>
        <p:nvSpPr>
          <p:cNvPr id="47" name="文本框 5"/>
          <p:cNvSpPr txBox="1"/>
          <p:nvPr/>
        </p:nvSpPr>
        <p:spPr>
          <a:xfrm>
            <a:off x="410210" y="134620"/>
            <a:ext cx="3725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bg1"/>
                </a:solidFill>
              </a:rPr>
              <a:t>阿里云 ECS</a:t>
            </a:r>
            <a:endParaRPr lang="zh-CN" altLang="en-US" sz="3600">
              <a:solidFill>
                <a:schemeClr val="bg1"/>
              </a:solidFill>
            </a:endParaRPr>
          </a:p>
        </p:txBody>
      </p:sp>
      <p:sp>
        <p:nvSpPr>
          <p:cNvPr id="48" name="文本框 3"/>
          <p:cNvSpPr txBox="1"/>
          <p:nvPr/>
        </p:nvSpPr>
        <p:spPr>
          <a:xfrm>
            <a:off x="469265" y="922020"/>
            <a:ext cx="214249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点击「免费试用」，在弹出的配置页面中核对试用时长，需满足 720 小时（约 30 天）。</a:t>
            </a:r>
            <a:endParaRPr lang="zh-CN" altLang="en-US" sz="1800">
              <a:solidFill>
                <a:schemeClr val="bg1"/>
              </a:solidFill>
            </a:endParaRPr>
          </a:p>
          <a:p>
            <a:r>
              <a:rPr lang="zh-CN" altLang="en-US" sz="1800">
                <a:solidFill>
                  <a:schemeClr val="bg1"/>
                </a:solidFill>
              </a:rPr>
              <a:t>每次调整配置后，系统都会实时计算并显示可试用时长。</a:t>
            </a:r>
            <a:endParaRPr lang="zh-CN" altLang="en-US" sz="1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1" name="文本框 5"/>
          <p:cNvSpPr txBox="1"/>
          <p:nvPr/>
        </p:nvSpPr>
        <p:spPr>
          <a:xfrm>
            <a:off x="410210" y="134620"/>
            <a:ext cx="3725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bg1"/>
                </a:solidFill>
              </a:rPr>
              <a:t>阿里云 ECS</a:t>
            </a:r>
            <a:endParaRPr lang="zh-CN" altLang="en-US" sz="3600">
              <a:solidFill>
                <a:schemeClr val="bg1"/>
              </a:solidFill>
            </a:endParaRPr>
          </a:p>
        </p:txBody>
      </p:sp>
      <p:sp>
        <p:nvSpPr>
          <p:cNvPr id="52" name="文本框 2"/>
          <p:cNvSpPr txBox="1"/>
          <p:nvPr/>
        </p:nvSpPr>
        <p:spPr>
          <a:xfrm>
            <a:off x="332740" y="895350"/>
            <a:ext cx="11407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合理选择实例配置，可在满足业务需求的前提下有效控制成本。</a:t>
            </a:r>
            <a:endParaRPr lang="zh-CN" altLang="en-US" sz="1800">
              <a:solidFill>
                <a:schemeClr val="bg1"/>
              </a:solidFill>
            </a:endParaRPr>
          </a:p>
        </p:txBody>
      </p:sp>
      <p:pic>
        <p:nvPicPr>
          <p:cNvPr id="53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95" y="1263650"/>
            <a:ext cx="7073265" cy="5578475"/>
          </a:xfrm>
          <a:prstGeom prst="rect">
            <a:avLst/>
          </a:prstGeom>
        </p:spPr>
      </p:pic>
      <p:sp>
        <p:nvSpPr>
          <p:cNvPr id="54" name="矩形 6"/>
          <p:cNvSpPr/>
          <p:nvPr/>
        </p:nvSpPr>
        <p:spPr>
          <a:xfrm>
            <a:off x="1170305" y="1536700"/>
            <a:ext cx="1229360" cy="363855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矩形 7"/>
          <p:cNvSpPr/>
          <p:nvPr/>
        </p:nvSpPr>
        <p:spPr>
          <a:xfrm>
            <a:off x="1504315" y="4826635"/>
            <a:ext cx="5407025" cy="659765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6" name="直接箭头连接符 8"/>
          <p:cNvCxnSpPr/>
          <p:nvPr/>
        </p:nvCxnSpPr>
        <p:spPr>
          <a:xfrm flipH="1">
            <a:off x="6895465" y="4895215"/>
            <a:ext cx="992505" cy="9588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7" name="文本框 9"/>
          <p:cNvSpPr txBox="1"/>
          <p:nvPr/>
        </p:nvSpPr>
        <p:spPr>
          <a:xfrm>
            <a:off x="7880985" y="4598670"/>
            <a:ext cx="3429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实例规格用途各异，个人建站选择第一项即可，其余规格适用于其他场景，可按需了解。</a:t>
            </a:r>
            <a:endParaRPr lang="zh-CN" altLang="en-US" sz="1800">
              <a:solidFill>
                <a:schemeClr val="bg1"/>
              </a:solidFill>
            </a:endParaRPr>
          </a:p>
        </p:txBody>
      </p:sp>
      <p:cxnSp>
        <p:nvCxnSpPr>
          <p:cNvPr id="58" name="直接箭头连接符 10"/>
          <p:cNvCxnSpPr>
            <a:endCxn id="54" idx="3"/>
          </p:cNvCxnSpPr>
          <p:nvPr/>
        </p:nvCxnSpPr>
        <p:spPr>
          <a:xfrm flipH="1">
            <a:off x="2399665" y="1643380"/>
            <a:ext cx="5014595" cy="7556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文本框 11"/>
          <p:cNvSpPr txBox="1"/>
          <p:nvPr/>
        </p:nvSpPr>
        <p:spPr>
          <a:xfrm>
            <a:off x="7792085" y="1421130"/>
            <a:ext cx="23107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仅自定义购买需选择实例架构，建议使用快速购买，以减少配置项。</a:t>
            </a:r>
            <a:endParaRPr lang="zh-CN" altLang="en-US" sz="1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2" name="文本框 5"/>
          <p:cNvSpPr txBox="1"/>
          <p:nvPr/>
        </p:nvSpPr>
        <p:spPr>
          <a:xfrm>
            <a:off x="410210" y="134620"/>
            <a:ext cx="3725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bg1"/>
                </a:solidFill>
              </a:rPr>
              <a:t>阿里云 ECS</a:t>
            </a:r>
            <a:endParaRPr lang="zh-CN" altLang="en-US" sz="3600">
              <a:solidFill>
                <a:schemeClr val="bg1"/>
              </a:solidFill>
            </a:endParaRPr>
          </a:p>
        </p:txBody>
      </p:sp>
      <p:pic>
        <p:nvPicPr>
          <p:cNvPr id="6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30" y="1740535"/>
            <a:ext cx="7519035" cy="2281555"/>
          </a:xfrm>
          <a:prstGeom prst="rect">
            <a:avLst/>
          </a:prstGeom>
        </p:spPr>
      </p:pic>
      <p:sp>
        <p:nvSpPr>
          <p:cNvPr id="64" name="文本框 3"/>
          <p:cNvSpPr txBox="1"/>
          <p:nvPr/>
        </p:nvSpPr>
        <p:spPr>
          <a:xfrm>
            <a:off x="303530" y="895350"/>
            <a:ext cx="115106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「2 核 2G」指 vCPU 核数与内存容量；该规格不支持 MySQL，可改用文件型数据库（如 SQLite）。</a:t>
            </a:r>
            <a:endParaRPr lang="zh-CN" altLang="en-US" sz="1800">
              <a:solidFill>
                <a:schemeClr val="bg1"/>
              </a:solidFill>
              <a:ea typeface="宋体" panose="02010600030101010101" pitchFamily="2" charset="-122"/>
            </a:endParaRPr>
          </a:p>
          <a:p>
            <a:r>
              <a:rPr lang="zh-CN" altLang="en-US" sz="1800">
                <a:solidFill>
                  <a:schemeClr val="bg1"/>
                </a:solidFill>
              </a:rPr>
              <a:t>在不使用 MySQL 的前提下，2 核 2G 约可支撑 100 人同时在线。</a:t>
            </a:r>
            <a:endParaRPr lang="zh-CN" altLang="en-US" sz="1800">
              <a:solidFill>
                <a:schemeClr val="bg1"/>
              </a:solidFill>
              <a:ea typeface="宋体" panose="02010600030101010101" pitchFamily="2" charset="-122"/>
            </a:endParaRPr>
          </a:p>
          <a:p>
            <a:r>
              <a:rPr lang="zh-CN" altLang="en-US" sz="1800">
                <a:solidFill>
                  <a:schemeClr val="bg1"/>
                </a:solidFill>
              </a:rPr>
              <a:t>2 核 4G、2 核 8G 支持大型数据库，请按并发量选择。</a:t>
            </a:r>
            <a:endParaRPr lang="zh-CN" altLang="en-US" sz="18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pic>
        <p:nvPicPr>
          <p:cNvPr id="6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30" y="4214495"/>
            <a:ext cx="7519035" cy="25241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8" name="文本框 5"/>
          <p:cNvSpPr txBox="1"/>
          <p:nvPr/>
        </p:nvSpPr>
        <p:spPr>
          <a:xfrm>
            <a:off x="410210" y="134620"/>
            <a:ext cx="3725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bg1"/>
                </a:solidFill>
              </a:rPr>
              <a:t>阿里云 ECS</a:t>
            </a:r>
            <a:endParaRPr lang="zh-CN" altLang="en-US" sz="3600">
              <a:solidFill>
                <a:schemeClr val="bg1"/>
              </a:solidFill>
            </a:endParaRPr>
          </a:p>
        </p:txBody>
      </p:sp>
      <p:pic>
        <p:nvPicPr>
          <p:cNvPr id="69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" y="2004060"/>
            <a:ext cx="7402830" cy="1312545"/>
          </a:xfrm>
          <a:prstGeom prst="rect">
            <a:avLst/>
          </a:prstGeom>
        </p:spPr>
      </p:pic>
      <p:sp>
        <p:nvSpPr>
          <p:cNvPr id="70" name="文本框 3"/>
          <p:cNvSpPr txBox="1"/>
          <p:nvPr/>
        </p:nvSpPr>
        <p:spPr>
          <a:xfrm>
            <a:off x="410210" y="932180"/>
            <a:ext cx="11370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Windows 镜像操作直观、灵活，但系统本身会占用部分算力。</a:t>
            </a:r>
            <a:endParaRPr lang="zh-CN" altLang="en-US" sz="1800">
              <a:solidFill>
                <a:schemeClr val="bg1"/>
              </a:solidFill>
            </a:endParaRPr>
          </a:p>
        </p:txBody>
      </p:sp>
      <p:pic>
        <p:nvPicPr>
          <p:cNvPr id="71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815" y="2004060"/>
            <a:ext cx="4655185" cy="3953510"/>
          </a:xfrm>
          <a:prstGeom prst="rect">
            <a:avLst/>
          </a:prstGeom>
        </p:spPr>
      </p:pic>
      <p:sp>
        <p:nvSpPr>
          <p:cNvPr id="72" name="文本框 6"/>
          <p:cNvSpPr txBox="1"/>
          <p:nvPr/>
        </p:nvSpPr>
        <p:spPr>
          <a:xfrm>
            <a:off x="347980" y="3598545"/>
            <a:ext cx="6985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>
                <a:solidFill>
                  <a:schemeClr val="bg1"/>
                </a:solidFill>
              </a:rPr>
              <a:t>Linux 镜像以命令行为主，上手难度略高，但系统资源占用极低，可将算力全部用于业务。</a:t>
            </a:r>
            <a:endParaRPr lang="zh-CN" altLang="en-US" sz="1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5" name="文本框 5"/>
          <p:cNvSpPr txBox="1"/>
          <p:nvPr/>
        </p:nvSpPr>
        <p:spPr>
          <a:xfrm>
            <a:off x="410210" y="134620"/>
            <a:ext cx="3725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bg1"/>
                </a:solidFill>
              </a:rPr>
              <a:t>阿里云 ECS</a:t>
            </a:r>
            <a:endParaRPr lang="zh-CN" altLang="en-US" sz="3600">
              <a:solidFill>
                <a:schemeClr val="bg1"/>
              </a:solidFill>
            </a:endParaRPr>
          </a:p>
        </p:txBody>
      </p:sp>
      <p:pic>
        <p:nvPicPr>
          <p:cNvPr id="76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" y="2802255"/>
            <a:ext cx="9888855" cy="2212975"/>
          </a:xfrm>
          <a:prstGeom prst="rect">
            <a:avLst/>
          </a:prstGeom>
        </p:spPr>
      </p:pic>
      <p:sp>
        <p:nvSpPr>
          <p:cNvPr id="77" name="文本框 3"/>
          <p:cNvSpPr txBox="1"/>
          <p:nvPr/>
        </p:nvSpPr>
        <p:spPr>
          <a:xfrm>
            <a:off x="540385" y="1162050"/>
            <a:ext cx="109334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地域决定用户与服务器的物理距离，距离越近访问越快；国内地域之间差异较小，可按需选择。</a:t>
            </a:r>
            <a:endParaRPr lang="zh-CN" altLang="en-US" sz="1800">
              <a:solidFill>
                <a:schemeClr val="bg1"/>
              </a:solidFill>
            </a:endParaRPr>
          </a:p>
          <a:p>
            <a:r>
              <a:rPr lang="zh-CN" altLang="en-US" sz="1800">
                <a:solidFill>
                  <a:schemeClr val="bg1"/>
                </a:solidFill>
              </a:rPr>
              <a:t>选择中国香港及境外地域无需 ICP 备案；其他地域均需备案，周期约 10~20 天，且须先拥有域名。</a:t>
            </a:r>
            <a:endParaRPr lang="zh-CN" altLang="en-US" sz="1800">
              <a:solidFill>
                <a:schemeClr val="bg1"/>
              </a:solidFill>
            </a:endParaRPr>
          </a:p>
          <a:p>
            <a:r>
              <a:rPr lang="zh-CN" altLang="en-US" sz="1800">
                <a:solidFill>
                  <a:schemeClr val="bg1"/>
                </a:solidFill>
              </a:rPr>
              <a:t>未完成备案前，可使用自签名证书，通过「公网 IP + 端口」方式临时访问。</a:t>
            </a:r>
            <a:endParaRPr lang="zh-CN" altLang="en-US" sz="1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0" name="文本框 5"/>
          <p:cNvSpPr txBox="1"/>
          <p:nvPr/>
        </p:nvSpPr>
        <p:spPr>
          <a:xfrm>
            <a:off x="410210" y="134620"/>
            <a:ext cx="3725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bg1"/>
                </a:solidFill>
              </a:rPr>
              <a:t>阿里云 ECS</a:t>
            </a:r>
            <a:endParaRPr lang="zh-CN" altLang="en-US" sz="3600">
              <a:solidFill>
                <a:schemeClr val="bg1"/>
              </a:solidFill>
            </a:endParaRPr>
          </a:p>
        </p:txBody>
      </p:sp>
      <p:pic>
        <p:nvPicPr>
          <p:cNvPr id="81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10" y="1979930"/>
            <a:ext cx="9918700" cy="1970405"/>
          </a:xfrm>
          <a:prstGeom prst="rect">
            <a:avLst/>
          </a:prstGeom>
        </p:spPr>
      </p:pic>
      <p:sp>
        <p:nvSpPr>
          <p:cNvPr id="82" name="文本框 3"/>
          <p:cNvSpPr txBox="1"/>
          <p:nvPr/>
        </p:nvSpPr>
        <p:spPr>
          <a:xfrm>
            <a:off x="410210" y="962025"/>
            <a:ext cx="77774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该配置项决定用户从站点下载文件的速度，请结合实际业务需求选择。</a:t>
            </a:r>
            <a:endParaRPr lang="zh-CN" altLang="en-US" sz="1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5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145" y="1778000"/>
            <a:ext cx="8558530" cy="4705985"/>
          </a:xfrm>
          <a:prstGeom prst="rect">
            <a:avLst/>
          </a:prstGeom>
        </p:spPr>
      </p:pic>
      <p:sp>
        <p:nvSpPr>
          <p:cNvPr id="86" name="文本框 5"/>
          <p:cNvSpPr txBox="1"/>
          <p:nvPr/>
        </p:nvSpPr>
        <p:spPr>
          <a:xfrm>
            <a:off x="410210" y="134620"/>
            <a:ext cx="3725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bg1"/>
                </a:solidFill>
              </a:rPr>
              <a:t>阿里云 ECS</a:t>
            </a:r>
            <a:endParaRPr lang="zh-CN" altLang="en-US" sz="3600">
              <a:solidFill>
                <a:schemeClr val="bg1"/>
              </a:solidFill>
            </a:endParaRPr>
          </a:p>
        </p:txBody>
      </p:sp>
      <p:sp>
        <p:nvSpPr>
          <p:cNvPr id="87" name="文本框 3"/>
          <p:cNvSpPr txBox="1"/>
          <p:nvPr/>
        </p:nvSpPr>
        <p:spPr>
          <a:xfrm>
            <a:off x="410210" y="1040765"/>
            <a:ext cx="283654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实例创建完成后，进入云服务器控制台：</a:t>
            </a:r>
            <a:endParaRPr lang="zh-CN" altLang="en-US" sz="1800">
              <a:solidFill>
                <a:schemeClr val="bg1"/>
              </a:solidFill>
            </a:endParaRPr>
          </a:p>
          <a:p>
            <a:r>
              <a:rPr lang="zh-CN" altLang="en-US" sz="1800">
                <a:solidFill>
                  <a:schemeClr val="bg1"/>
                </a:solidFill>
              </a:rPr>
              <a:t>第一步（必做）：设置实例密码，该密码用于远程连接云服务器。</a:t>
            </a:r>
            <a:endParaRPr lang="zh-CN" altLang="en-US" sz="1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0" name="文本框 5"/>
          <p:cNvSpPr txBox="1"/>
          <p:nvPr/>
        </p:nvSpPr>
        <p:spPr>
          <a:xfrm>
            <a:off x="410210" y="134620"/>
            <a:ext cx="3725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bg1"/>
                </a:solidFill>
              </a:rPr>
              <a:t>阿里云 ECS</a:t>
            </a:r>
            <a:endParaRPr lang="zh-CN" altLang="en-US" sz="3600">
              <a:solidFill>
                <a:schemeClr val="bg1"/>
              </a:solidFill>
            </a:endParaRPr>
          </a:p>
        </p:txBody>
      </p:sp>
      <p:pic>
        <p:nvPicPr>
          <p:cNvPr id="91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455" y="880110"/>
            <a:ext cx="9711055" cy="5389245"/>
          </a:xfrm>
          <a:prstGeom prst="rect">
            <a:avLst/>
          </a:prstGeom>
        </p:spPr>
      </p:pic>
      <p:sp>
        <p:nvSpPr>
          <p:cNvPr id="92" name="文本框 3"/>
          <p:cNvSpPr txBox="1"/>
          <p:nvPr/>
        </p:nvSpPr>
        <p:spPr>
          <a:xfrm>
            <a:off x="265430" y="930275"/>
            <a:ext cx="143446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登录名保持默认，设置密码后点击「确认修改」。</a:t>
            </a:r>
            <a:endParaRPr lang="zh-CN" altLang="en-US" sz="1800">
              <a:solidFill>
                <a:schemeClr val="bg1"/>
              </a:solidFill>
            </a:endParaRPr>
          </a:p>
        </p:txBody>
      </p:sp>
      <p:sp>
        <p:nvSpPr>
          <p:cNvPr id="93" name="矩形 6"/>
          <p:cNvSpPr/>
          <p:nvPr/>
        </p:nvSpPr>
        <p:spPr>
          <a:xfrm>
            <a:off x="5525770" y="2277745"/>
            <a:ext cx="1229360" cy="363855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4" name="直接箭头连接符 4"/>
          <p:cNvCxnSpPr>
            <a:stCxn id="95" idx="3"/>
            <a:endCxn id="93" idx="1"/>
          </p:cNvCxnSpPr>
          <p:nvPr/>
        </p:nvCxnSpPr>
        <p:spPr>
          <a:xfrm flipV="1">
            <a:off x="2413000" y="2459990"/>
            <a:ext cx="3112770" cy="59753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5" name="文本框 7"/>
          <p:cNvSpPr txBox="1"/>
          <p:nvPr/>
        </p:nvSpPr>
        <p:spPr>
          <a:xfrm>
            <a:off x="539115" y="2873375"/>
            <a:ext cx="18738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保持默认</a:t>
            </a:r>
            <a:endParaRPr lang="zh-CN" altLang="en-US" sz="1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8" name="文本框 5"/>
          <p:cNvSpPr txBox="1"/>
          <p:nvPr/>
        </p:nvSpPr>
        <p:spPr>
          <a:xfrm>
            <a:off x="410210" y="134620"/>
            <a:ext cx="3725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bg1"/>
                </a:solidFill>
              </a:rPr>
              <a:t>阿里云 ECS</a:t>
            </a:r>
            <a:endParaRPr lang="zh-CN" altLang="en-US" sz="3600">
              <a:solidFill>
                <a:schemeClr val="bg1"/>
              </a:solidFill>
            </a:endParaRPr>
          </a:p>
        </p:txBody>
      </p:sp>
      <p:pic>
        <p:nvPicPr>
          <p:cNvPr id="99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55203"/>
            <a:ext cx="8012430" cy="4602480"/>
          </a:xfrm>
          <a:prstGeom prst="rect">
            <a:avLst/>
          </a:prstGeom>
        </p:spPr>
      </p:pic>
      <p:sp>
        <p:nvSpPr>
          <p:cNvPr id="100" name="文本框 3"/>
          <p:cNvSpPr txBox="1"/>
          <p:nvPr/>
        </p:nvSpPr>
        <p:spPr>
          <a:xfrm>
            <a:off x="432435" y="788035"/>
            <a:ext cx="116719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复制实例公网 IP，打开 Windows 远程桌面连接（mstsc），输入 IP 后点击连接。首次登录需输入用户名与密码：用户名为重置密码处的登录名，密码为已设置的实例密码。</a:t>
            </a:r>
            <a:endParaRPr lang="zh-CN" altLang="en-US" sz="18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pic>
        <p:nvPicPr>
          <p:cNvPr id="101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00" y="2321560"/>
            <a:ext cx="7961630" cy="4601845"/>
          </a:xfrm>
          <a:prstGeom prst="rect">
            <a:avLst/>
          </a:prstGeom>
        </p:spPr>
      </p:pic>
      <p:pic>
        <p:nvPicPr>
          <p:cNvPr id="102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2040" y="2255520"/>
            <a:ext cx="8369935" cy="4629785"/>
          </a:xfrm>
          <a:prstGeom prst="rect">
            <a:avLst/>
          </a:prstGeom>
        </p:spPr>
      </p:pic>
      <p:pic>
        <p:nvPicPr>
          <p:cNvPr id="103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7063" y="2233295"/>
            <a:ext cx="8457565" cy="4690110"/>
          </a:xfrm>
          <a:prstGeom prst="rect">
            <a:avLst/>
          </a:prstGeom>
        </p:spPr>
      </p:pic>
      <p:pic>
        <p:nvPicPr>
          <p:cNvPr id="104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4985" y="2278380"/>
            <a:ext cx="7689850" cy="46069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7" name="文本框 5"/>
          <p:cNvSpPr txBox="1"/>
          <p:nvPr/>
        </p:nvSpPr>
        <p:spPr>
          <a:xfrm>
            <a:off x="410210" y="134620"/>
            <a:ext cx="3725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bg1"/>
                </a:solidFill>
              </a:rPr>
              <a:t>阿里云 ECS</a:t>
            </a:r>
            <a:endParaRPr lang="zh-CN" altLang="en-US" sz="3600">
              <a:solidFill>
                <a:schemeClr val="bg1"/>
              </a:solidFill>
            </a:endParaRPr>
          </a:p>
        </p:txBody>
      </p:sp>
      <p:sp>
        <p:nvSpPr>
          <p:cNvPr id="108" name="文本框 3"/>
          <p:cNvSpPr txBox="1"/>
          <p:nvPr/>
        </p:nvSpPr>
        <p:spPr>
          <a:xfrm>
            <a:off x="342265" y="896620"/>
            <a:ext cx="9042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将本地已测试通过的项目代码上传至云服务器，建议先压缩以加快传输。</a:t>
            </a:r>
            <a:endParaRPr lang="zh-CN" altLang="en-US" sz="1800" u="sng">
              <a:solidFill>
                <a:schemeClr val="bg1"/>
              </a:solidFill>
            </a:endParaRPr>
          </a:p>
        </p:txBody>
      </p:sp>
      <p:sp>
        <p:nvSpPr>
          <p:cNvPr id="109" name="文本框 4"/>
          <p:cNvSpPr txBox="1"/>
          <p:nvPr/>
        </p:nvSpPr>
        <p:spPr>
          <a:xfrm>
            <a:off x="384810" y="1379220"/>
            <a:ext cx="108362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部署方式有两种：使用宝塔面板，或使用命令行。</a:t>
            </a:r>
            <a:endParaRPr lang="zh-CN" altLang="en-US" sz="1800">
              <a:solidFill>
                <a:schemeClr val="bg1"/>
              </a:solidFill>
            </a:endParaRPr>
          </a:p>
          <a:p>
            <a:r>
              <a:rPr lang="zh-CN" altLang="en-US" sz="1800">
                <a:solidFill>
                  <a:schemeClr val="bg1"/>
                </a:solidFill>
              </a:rPr>
              <a:t>宝塔面板（BT Panel）为国产可视化运维面板，支持 Linux 与 Windows，可一键部署 LNMP/LAMP 环境、管理数据库、申请 SSL 证书，适合新手及小型团队。</a:t>
            </a:r>
            <a:endParaRPr lang="zh-CN" altLang="en-US" sz="1800">
              <a:solidFill>
                <a:schemeClr val="bg1"/>
              </a:solidFill>
            </a:endParaRPr>
          </a:p>
        </p:txBody>
      </p:sp>
      <p:sp>
        <p:nvSpPr>
          <p:cNvPr id="110" name="文本框 6"/>
          <p:cNvSpPr txBox="1"/>
          <p:nvPr/>
        </p:nvSpPr>
        <p:spPr>
          <a:xfrm>
            <a:off x="418465" y="2578100"/>
            <a:ext cx="10802620" cy="8502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常用 PM2 命令（Win+R 输入 cmd 执行）：</a:t>
            </a:r>
            <a:endParaRPr lang="zh-CN" altLang="en-US" sz="1800">
              <a:solidFill>
                <a:schemeClr val="bg1"/>
              </a:solidFill>
              <a:ea typeface="宋体" panose="02010600030101010101" pitchFamily="2" charset="-122"/>
            </a:endParaRPr>
          </a:p>
          <a:p>
            <a:r>
              <a:rPr lang="zh-CN" altLang="en-US" sz="1800">
                <a:solidFill>
                  <a:schemeClr val="bg1"/>
                </a:solidFill>
                <a:ea typeface="宋体" panose="02010600030101010101" pitchFamily="2" charset="-122"/>
              </a:rPr>
              <a:t>pm2 start app.js 启动｜pm2 list 查看｜pm2 restart 重启｜pm2 stop 停止</a:t>
            </a:r>
            <a:endParaRPr lang="zh-CN" altLang="en-US" sz="1800">
              <a:solidFill>
                <a:schemeClr val="bg1"/>
              </a:solidFill>
              <a:ea typeface="宋体" panose="02010600030101010101" pitchFamily="2" charset="-122"/>
            </a:endParaRPr>
          </a:p>
          <a:p>
            <a:r>
              <a:rPr lang="zh-CN" altLang="en-US" sz="1800">
                <a:solidFill>
                  <a:schemeClr val="bg1"/>
                </a:solidFill>
                <a:ea typeface="宋体" panose="02010600030101010101" pitchFamily="2" charset="-122"/>
              </a:rPr>
              <a:t>pm2 delete 删除｜pm2 logs 查日志｜pm2 startup &amp;&amp; pm2 save 开机自启</a:t>
            </a:r>
            <a:endParaRPr lang="en-US" altLang="zh-CN" sz="18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111" name="文本框 7"/>
          <p:cNvSpPr txBox="1"/>
          <p:nvPr/>
        </p:nvSpPr>
        <p:spPr>
          <a:xfrm>
            <a:off x="418465" y="3643188"/>
            <a:ext cx="41148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命令行方式无需安装面板，灵活性更高。建议按项目实际情况生成部署命令，可借助 AI 分析项目所需指令，并提供完整目录结构以获得准确结果。部署前请确认已安装 Node.js 与 PM2。</a:t>
            </a:r>
            <a:endParaRPr lang="zh-CN" altLang="en-US" sz="18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4" name="文本框 5"/>
          <p:cNvSpPr txBox="1"/>
          <p:nvPr/>
        </p:nvSpPr>
        <p:spPr>
          <a:xfrm>
            <a:off x="410210" y="134620"/>
            <a:ext cx="3725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bg1"/>
                </a:solidFill>
              </a:rPr>
              <a:t>阿里云 ECS</a:t>
            </a:r>
            <a:endParaRPr lang="zh-CN" altLang="en-US" sz="3600">
              <a:solidFill>
                <a:schemeClr val="bg1"/>
              </a:solidFill>
            </a:endParaRPr>
          </a:p>
        </p:txBody>
      </p:sp>
      <p:pic>
        <p:nvPicPr>
          <p:cNvPr id="115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9803"/>
            <a:ext cx="8559800" cy="4695825"/>
          </a:xfrm>
          <a:prstGeom prst="rect">
            <a:avLst/>
          </a:prstGeom>
        </p:spPr>
      </p:pic>
      <p:sp>
        <p:nvSpPr>
          <p:cNvPr id="116" name="文本框 3"/>
          <p:cNvSpPr txBox="1"/>
          <p:nvPr/>
        </p:nvSpPr>
        <p:spPr>
          <a:xfrm>
            <a:off x="427355" y="981710"/>
            <a:ext cx="114547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需在云服务器控制台放行项目端口。若项目端口为 3000，则放行 3000 端口：进入防火墙 → 入站规则 → 新建规则 → 选择「端口」→ 输入 3000 → 允许连接，其余步骤保持默认，名称可自定义。</a:t>
            </a:r>
            <a:endParaRPr lang="zh-CN" altLang="en-US" sz="18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pic>
        <p:nvPicPr>
          <p:cNvPr id="117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80" y="2066608"/>
            <a:ext cx="7440295" cy="4791075"/>
          </a:xfrm>
          <a:prstGeom prst="rect">
            <a:avLst/>
          </a:prstGeom>
        </p:spPr>
      </p:pic>
      <p:pic>
        <p:nvPicPr>
          <p:cNvPr id="118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5695" y="2066608"/>
            <a:ext cx="7242175" cy="4698365"/>
          </a:xfrm>
          <a:prstGeom prst="rect">
            <a:avLst/>
          </a:prstGeom>
        </p:spPr>
      </p:pic>
      <p:pic>
        <p:nvPicPr>
          <p:cNvPr id="119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6960" y="2086293"/>
            <a:ext cx="7302500" cy="4771390"/>
          </a:xfrm>
          <a:prstGeom prst="rect">
            <a:avLst/>
          </a:prstGeom>
        </p:spPr>
      </p:pic>
      <p:pic>
        <p:nvPicPr>
          <p:cNvPr id="120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0728" y="2014220"/>
            <a:ext cx="7331075" cy="4751070"/>
          </a:xfrm>
          <a:prstGeom prst="rect">
            <a:avLst/>
          </a:prstGeom>
        </p:spPr>
      </p:pic>
      <p:pic>
        <p:nvPicPr>
          <p:cNvPr id="121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8615" y="1931670"/>
            <a:ext cx="7125970" cy="4926330"/>
          </a:xfrm>
          <a:prstGeom prst="rect">
            <a:avLst/>
          </a:prstGeom>
        </p:spPr>
      </p:pic>
      <p:pic>
        <p:nvPicPr>
          <p:cNvPr id="122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5515" y="2014220"/>
            <a:ext cx="7631430" cy="49117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5" name="文本框 5"/>
          <p:cNvSpPr txBox="1"/>
          <p:nvPr/>
        </p:nvSpPr>
        <p:spPr>
          <a:xfrm>
            <a:off x="410210" y="134620"/>
            <a:ext cx="3725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bg1"/>
                </a:solidFill>
              </a:rPr>
              <a:t>阿里云 ECS</a:t>
            </a:r>
            <a:endParaRPr lang="zh-CN" altLang="en-US" sz="3600">
              <a:solidFill>
                <a:schemeClr val="bg1"/>
              </a:solidFill>
            </a:endParaRPr>
          </a:p>
        </p:txBody>
      </p:sp>
      <p:sp>
        <p:nvSpPr>
          <p:cNvPr id="126" name="文本框 2"/>
          <p:cNvSpPr txBox="1"/>
          <p:nvPr/>
        </p:nvSpPr>
        <p:spPr>
          <a:xfrm>
            <a:off x="249555" y="727710"/>
            <a:ext cx="11690985" cy="20097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完成上一步后，可通过 https://公网IP:端口 访问站点。多数浏览器会拦截该地址，可选以下两种方案：自签名证书或在云服务器上部署 SSL 证书。</a:t>
            </a:r>
            <a:endParaRPr lang="zh-CN" altLang="en-US" sz="18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自签名证书配置步骤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1800">
                <a:solidFill>
                  <a:schemeClr val="bg1"/>
                </a:solidFill>
              </a:rPr>
              <a:t>可借助 AI 生成证书命令：按 Win+R 输入 cmd 执行，并按提示修改项目代码，确认输出无误即可。该方式下浏览器会提示「不安全」。</a:t>
            </a:r>
            <a:endParaRPr lang="zh-CN" altLang="en-US" sz="18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127" name="文本框 3"/>
          <p:cNvSpPr txBox="1"/>
          <p:nvPr/>
        </p:nvSpPr>
        <p:spPr>
          <a:xfrm>
            <a:off x="274955" y="2725420"/>
            <a:ext cx="11665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>
                <a:solidFill>
                  <a:schemeClr val="bg1"/>
                </a:solidFill>
              </a:rPr>
              <a:t>SSL 证书为正式方案，需先完成域名购买方可申请与生效。</a:t>
            </a:r>
            <a:endParaRPr lang="zh-CN" altLang="en-US" sz="1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0" name="文本框 5"/>
          <p:cNvSpPr txBox="1"/>
          <p:nvPr/>
        </p:nvSpPr>
        <p:spPr>
          <a:xfrm>
            <a:off x="410210" y="134620"/>
            <a:ext cx="3725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bg1"/>
                </a:solidFill>
              </a:rPr>
              <a:t>阿里云 ECS</a:t>
            </a:r>
            <a:endParaRPr lang="zh-CN" altLang="en-US" sz="3600">
              <a:solidFill>
                <a:schemeClr val="bg1"/>
              </a:solidFill>
            </a:endParaRPr>
          </a:p>
        </p:txBody>
      </p:sp>
      <p:sp>
        <p:nvSpPr>
          <p:cNvPr id="131" name="文本框 2"/>
          <p:cNvSpPr txBox="1"/>
          <p:nvPr/>
        </p:nvSpPr>
        <p:spPr>
          <a:xfrm>
            <a:off x="384810" y="854710"/>
            <a:ext cx="11471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进入域名控制台，查询拟注册域名是否已被占用，未被占用即可购买。</a:t>
            </a:r>
            <a:endParaRPr lang="zh-CN" altLang="en-US" sz="1800">
              <a:solidFill>
                <a:schemeClr val="bg1"/>
              </a:solidFill>
            </a:endParaRPr>
          </a:p>
        </p:txBody>
      </p:sp>
      <p:pic>
        <p:nvPicPr>
          <p:cNvPr id="132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310" y="1678940"/>
            <a:ext cx="8668385" cy="5179060"/>
          </a:xfrm>
          <a:prstGeom prst="rect">
            <a:avLst/>
          </a:prstGeom>
        </p:spPr>
      </p:pic>
      <p:pic>
        <p:nvPicPr>
          <p:cNvPr id="133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905" y="1644015"/>
            <a:ext cx="8726805" cy="52139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6" name="文本框 5"/>
          <p:cNvSpPr txBox="1"/>
          <p:nvPr/>
        </p:nvSpPr>
        <p:spPr>
          <a:xfrm>
            <a:off x="410210" y="134620"/>
            <a:ext cx="3725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bg1"/>
                </a:solidFill>
              </a:rPr>
              <a:t>阿里云 ECS</a:t>
            </a:r>
            <a:endParaRPr lang="zh-CN" altLang="en-US" sz="3600">
              <a:solidFill>
                <a:schemeClr val="bg1"/>
              </a:solidFill>
            </a:endParaRPr>
          </a:p>
        </p:txBody>
      </p:sp>
      <p:sp>
        <p:nvSpPr>
          <p:cNvPr id="137" name="文本框 2"/>
          <p:cNvSpPr txBox="1"/>
          <p:nvPr/>
        </p:nvSpPr>
        <p:spPr>
          <a:xfrm>
            <a:off x="503555" y="1007110"/>
            <a:ext cx="11303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提交 ICP 备案申请，审核周期较长。备案期间建议不要登录云服务器，待备案通过后再进行相关操作。</a:t>
            </a:r>
            <a:endParaRPr lang="zh-CN" altLang="en-US" sz="1800" b="1" u="sng">
              <a:solidFill>
                <a:schemeClr val="bg1"/>
              </a:solidFill>
            </a:endParaRPr>
          </a:p>
          <a:p>
            <a:r>
              <a:rPr lang="zh-CN" altLang="en-US" sz="1800">
                <a:solidFill>
                  <a:schemeClr val="bg1"/>
                </a:solidFill>
              </a:rPr>
              <a:t>填写备案信息时，需按实际情况选择「个人」或「企业」主体；信息不实或内容违规将导致备案注销、站点封禁。</a:t>
            </a:r>
            <a:endParaRPr lang="zh-CN" altLang="en-US" sz="1800">
              <a:solidFill>
                <a:schemeClr val="bg1"/>
              </a:solidFill>
            </a:endParaRPr>
          </a:p>
        </p:txBody>
      </p:sp>
      <p:pic>
        <p:nvPicPr>
          <p:cNvPr id="138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" y="2037080"/>
            <a:ext cx="8855710" cy="4872990"/>
          </a:xfrm>
          <a:prstGeom prst="rect">
            <a:avLst/>
          </a:prstGeom>
        </p:spPr>
      </p:pic>
      <p:pic>
        <p:nvPicPr>
          <p:cNvPr id="139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5090" y="2037080"/>
            <a:ext cx="8514715" cy="487108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2" name="文本框 5"/>
          <p:cNvSpPr txBox="1"/>
          <p:nvPr/>
        </p:nvSpPr>
        <p:spPr>
          <a:xfrm>
            <a:off x="410210" y="134620"/>
            <a:ext cx="3725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bg1"/>
                </a:solidFill>
              </a:rPr>
              <a:t>阿里云 ECS</a:t>
            </a:r>
            <a:endParaRPr lang="zh-CN" altLang="en-US" sz="3600">
              <a:solidFill>
                <a:schemeClr val="bg1"/>
              </a:solidFill>
            </a:endParaRPr>
          </a:p>
        </p:txBody>
      </p:sp>
      <p:pic>
        <p:nvPicPr>
          <p:cNvPr id="14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70" y="2171700"/>
            <a:ext cx="8629650" cy="4281805"/>
          </a:xfrm>
          <a:prstGeom prst="rect">
            <a:avLst/>
          </a:prstGeom>
        </p:spPr>
      </p:pic>
      <p:sp>
        <p:nvSpPr>
          <p:cNvPr id="144" name="文本框 3"/>
          <p:cNvSpPr txBox="1"/>
          <p:nvPr/>
        </p:nvSpPr>
        <p:spPr>
          <a:xfrm>
            <a:off x="643890" y="806450"/>
            <a:ext cx="111328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按要求提交信息后进入备案审核流程，审核期间客服可能致电核对或要求修改信息，请注意接听。</a:t>
            </a:r>
            <a:endParaRPr lang="zh-CN" altLang="en-US" sz="1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7" name="文本框 5"/>
          <p:cNvSpPr txBox="1"/>
          <p:nvPr/>
        </p:nvSpPr>
        <p:spPr>
          <a:xfrm>
            <a:off x="410210" y="134620"/>
            <a:ext cx="3725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bg1"/>
                </a:solidFill>
              </a:rPr>
              <a:t>阿里云 ECS</a:t>
            </a:r>
            <a:endParaRPr lang="zh-CN" altLang="en-US" sz="3600">
              <a:solidFill>
                <a:schemeClr val="bg1"/>
              </a:solidFill>
            </a:endParaRPr>
          </a:p>
        </p:txBody>
      </p:sp>
      <p:pic>
        <p:nvPicPr>
          <p:cNvPr id="148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05305"/>
            <a:ext cx="8888730" cy="4886960"/>
          </a:xfrm>
          <a:prstGeom prst="rect">
            <a:avLst/>
          </a:prstGeom>
        </p:spPr>
      </p:pic>
      <p:sp>
        <p:nvSpPr>
          <p:cNvPr id="149" name="文本框 3"/>
          <p:cNvSpPr txBox="1"/>
          <p:nvPr/>
        </p:nvSpPr>
        <p:spPr>
          <a:xfrm>
            <a:off x="532765" y="835660"/>
            <a:ext cx="9592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备案通过后，返回控制台首页，进入域名控制台。</a:t>
            </a:r>
            <a:endParaRPr lang="zh-CN" altLang="en-US" sz="1800">
              <a:solidFill>
                <a:schemeClr val="bg1"/>
              </a:solidFill>
            </a:endParaRPr>
          </a:p>
        </p:txBody>
      </p:sp>
      <p:sp>
        <p:nvSpPr>
          <p:cNvPr id="150" name="矩形 6"/>
          <p:cNvSpPr/>
          <p:nvPr/>
        </p:nvSpPr>
        <p:spPr>
          <a:xfrm>
            <a:off x="4377690" y="3989705"/>
            <a:ext cx="1229360" cy="600075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3" name="文本框 5"/>
          <p:cNvSpPr txBox="1"/>
          <p:nvPr/>
        </p:nvSpPr>
        <p:spPr>
          <a:xfrm>
            <a:off x="410210" y="134620"/>
            <a:ext cx="3725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bg1"/>
                </a:solidFill>
              </a:rPr>
              <a:t>阿里云 ECS</a:t>
            </a:r>
            <a:endParaRPr lang="zh-CN" altLang="en-US" sz="3600">
              <a:solidFill>
                <a:schemeClr val="bg1"/>
              </a:solidFill>
            </a:endParaRPr>
          </a:p>
        </p:txBody>
      </p:sp>
      <p:pic>
        <p:nvPicPr>
          <p:cNvPr id="154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10" y="1404303"/>
            <a:ext cx="9959340" cy="5218430"/>
          </a:xfrm>
          <a:prstGeom prst="rect">
            <a:avLst/>
          </a:prstGeom>
        </p:spPr>
      </p:pic>
      <p:pic>
        <p:nvPicPr>
          <p:cNvPr id="155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288" y="1404938"/>
            <a:ext cx="9369425" cy="5173345"/>
          </a:xfrm>
          <a:prstGeom prst="rect">
            <a:avLst/>
          </a:prstGeom>
        </p:spPr>
      </p:pic>
      <p:sp>
        <p:nvSpPr>
          <p:cNvPr id="156" name="文本框 4"/>
          <p:cNvSpPr txBox="1"/>
          <p:nvPr/>
        </p:nvSpPr>
        <p:spPr>
          <a:xfrm>
            <a:off x="354965" y="746760"/>
            <a:ext cx="70954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进入「域名管理 → 域名列表」，点击目标域名。</a:t>
            </a:r>
            <a:endParaRPr lang="zh-CN" altLang="en-US" sz="18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9" name="文本框 5"/>
          <p:cNvSpPr txBox="1"/>
          <p:nvPr/>
        </p:nvSpPr>
        <p:spPr>
          <a:xfrm>
            <a:off x="410210" y="134620"/>
            <a:ext cx="3725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bg1"/>
                </a:solidFill>
              </a:rPr>
              <a:t>阿里云 ECS</a:t>
            </a:r>
            <a:endParaRPr lang="zh-CN" altLang="en-US" sz="3600">
              <a:solidFill>
                <a:schemeClr val="bg1"/>
              </a:solidFill>
            </a:endParaRPr>
          </a:p>
        </p:txBody>
      </p:sp>
      <p:pic>
        <p:nvPicPr>
          <p:cNvPr id="160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65" y="1765935"/>
            <a:ext cx="1652270" cy="5046980"/>
          </a:xfrm>
          <a:prstGeom prst="rect">
            <a:avLst/>
          </a:prstGeom>
        </p:spPr>
      </p:pic>
      <p:cxnSp>
        <p:nvCxnSpPr>
          <p:cNvPr id="161" name="直接箭头连接符 3"/>
          <p:cNvCxnSpPr/>
          <p:nvPr/>
        </p:nvCxnSpPr>
        <p:spPr>
          <a:xfrm flipV="1">
            <a:off x="932815" y="4487545"/>
            <a:ext cx="1236980" cy="812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62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345" y="1879600"/>
            <a:ext cx="8759190" cy="4819650"/>
          </a:xfrm>
          <a:prstGeom prst="rect">
            <a:avLst/>
          </a:prstGeom>
        </p:spPr>
      </p:pic>
      <p:sp>
        <p:nvSpPr>
          <p:cNvPr id="163" name="文本框 6"/>
          <p:cNvSpPr txBox="1"/>
          <p:nvPr/>
        </p:nvSpPr>
        <p:spPr>
          <a:xfrm>
            <a:off x="332740" y="813435"/>
            <a:ext cx="4888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点击「域名解析 → 添加记录」。</a:t>
            </a:r>
            <a:endParaRPr lang="zh-CN" altLang="en-US" sz="1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6" name="文本框 5"/>
          <p:cNvSpPr txBox="1"/>
          <p:nvPr/>
        </p:nvSpPr>
        <p:spPr>
          <a:xfrm>
            <a:off x="410210" y="134620"/>
            <a:ext cx="3725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bg1"/>
                </a:solidFill>
              </a:rPr>
              <a:t>阿里云 ECS</a:t>
            </a:r>
            <a:endParaRPr lang="zh-CN" altLang="en-US" sz="3600">
              <a:solidFill>
                <a:schemeClr val="bg1"/>
              </a:solidFill>
            </a:endParaRPr>
          </a:p>
        </p:txBody>
      </p:sp>
      <p:pic>
        <p:nvPicPr>
          <p:cNvPr id="167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18" y="1627505"/>
            <a:ext cx="9213850" cy="4994275"/>
          </a:xfrm>
          <a:prstGeom prst="rect">
            <a:avLst/>
          </a:prstGeom>
        </p:spPr>
      </p:pic>
      <p:sp>
        <p:nvSpPr>
          <p:cNvPr id="168" name="文本框 3"/>
          <p:cNvSpPr txBox="1"/>
          <p:nvPr/>
        </p:nvSpPr>
        <p:spPr>
          <a:xfrm>
            <a:off x="410210" y="779780"/>
            <a:ext cx="3785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记录值填写公网 IP</a:t>
            </a:r>
            <a:endParaRPr lang="en-US" altLang="zh-CN" sz="1800">
              <a:solidFill>
                <a:schemeClr val="bg1"/>
              </a:solidFill>
            </a:endParaRPr>
          </a:p>
        </p:txBody>
      </p:sp>
      <p:cxnSp>
        <p:nvCxnSpPr>
          <p:cNvPr id="169" name="直接箭头连接符 4"/>
          <p:cNvCxnSpPr/>
          <p:nvPr/>
        </p:nvCxnSpPr>
        <p:spPr>
          <a:xfrm>
            <a:off x="3665855" y="1162050"/>
            <a:ext cx="1466850" cy="120713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70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000" y="3165158"/>
            <a:ext cx="7212965" cy="2980055"/>
          </a:xfrm>
          <a:prstGeom prst="rect">
            <a:avLst/>
          </a:prstGeom>
        </p:spPr>
      </p:pic>
      <p:sp>
        <p:nvSpPr>
          <p:cNvPr id="171" name="文本框 7"/>
          <p:cNvSpPr txBox="1"/>
          <p:nvPr/>
        </p:nvSpPr>
        <p:spPr>
          <a:xfrm>
            <a:off x="4135755" y="771525"/>
            <a:ext cx="3695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主机记录选 www 或 @</a:t>
            </a:r>
            <a:endParaRPr lang="zh-CN" altLang="en-US" sz="18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4" name="文本框 5"/>
          <p:cNvSpPr txBox="1"/>
          <p:nvPr/>
        </p:nvSpPr>
        <p:spPr>
          <a:xfrm>
            <a:off x="410210" y="134620"/>
            <a:ext cx="3725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bg1"/>
                </a:solidFill>
              </a:rPr>
              <a:t>阿里云 ECS</a:t>
            </a:r>
            <a:endParaRPr lang="zh-CN" altLang="en-US" sz="3600">
              <a:solidFill>
                <a:schemeClr val="bg1"/>
              </a:solidFill>
            </a:endParaRPr>
          </a:p>
        </p:txBody>
      </p:sp>
      <p:sp>
        <p:nvSpPr>
          <p:cNvPr id="175" name="文本框 2"/>
          <p:cNvSpPr txBox="1"/>
          <p:nvPr/>
        </p:nvSpPr>
        <p:spPr>
          <a:xfrm>
            <a:off x="703580" y="1146810"/>
            <a:ext cx="1060577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完成备案后即可申请 SSL 证书。可在云服务器上通过命令申请免费证书并配置自动续期；申请过程中会出现若干英文选项，可借助 AI 查询对应含义。</a:t>
            </a:r>
            <a:endParaRPr lang="zh-CN" altLang="en-US" sz="1800">
              <a:solidFill>
                <a:schemeClr val="bg1"/>
              </a:solidFill>
            </a:endParaRPr>
          </a:p>
          <a:p>
            <a:r>
              <a:rPr lang="zh-CN" altLang="en-US" sz="1800">
                <a:solidFill>
                  <a:schemeClr val="bg1"/>
                </a:solidFill>
              </a:rPr>
              <a:t>证书签发且后端程序正常运行后，网站部署即告完成。</a:t>
            </a:r>
            <a:endParaRPr lang="zh-CN" altLang="en-US" sz="1800">
              <a:solidFill>
                <a:schemeClr val="bg1"/>
              </a:solidFill>
            </a:endParaRPr>
          </a:p>
          <a:p>
            <a:r>
              <a:rPr lang="zh-CN" altLang="en-US" sz="1800">
                <a:solidFill>
                  <a:schemeClr val="bg1"/>
                </a:solidFill>
              </a:rPr>
              <a:t>环境配置仅首次较为繁琐，后续更新维护相对简单，建议掌握运维工具以提升维护效率。</a:t>
            </a:r>
            <a:endParaRPr lang="zh-CN" altLang="en-US" sz="1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8" name="文本框 5"/>
          <p:cNvSpPr txBox="1"/>
          <p:nvPr/>
        </p:nvSpPr>
        <p:spPr>
          <a:xfrm>
            <a:off x="410210" y="134620"/>
            <a:ext cx="3725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bg1"/>
                </a:solidFill>
              </a:rPr>
              <a:t>站点收录与推广</a:t>
            </a:r>
            <a:endParaRPr lang="zh-CN" altLang="en-US" sz="3600">
              <a:solidFill>
                <a:schemeClr val="bg1"/>
              </a:solidFill>
            </a:endParaRPr>
          </a:p>
        </p:txBody>
      </p:sp>
      <p:sp>
        <p:nvSpPr>
          <p:cNvPr id="179" name="文本框 3"/>
          <p:cNvSpPr txBox="1"/>
          <p:nvPr/>
        </p:nvSpPr>
        <p:spPr>
          <a:xfrm>
            <a:off x="414655" y="768985"/>
            <a:ext cx="1125791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完成部署后，站点仅能通过完整域名（如 www.example.com）直接访问，无法通过中文关键词在搜索引擎中检索到。</a:t>
            </a:r>
            <a:endParaRPr lang="zh-CN" altLang="en-US" sz="1800">
              <a:solidFill>
                <a:schemeClr val="bg1"/>
              </a:solidFill>
            </a:endParaRPr>
          </a:p>
          <a:p>
            <a:r>
              <a:rPr lang="zh-CN" altLang="en-US" sz="1800">
                <a:solidFill>
                  <a:schemeClr val="bg1"/>
                </a:solidFill>
              </a:rPr>
              <a:t>例如搜索</a:t>
            </a:r>
            <a:r>
              <a:rPr lang="en-US" altLang="zh-CN" sz="1800">
                <a:solidFill>
                  <a:schemeClr val="bg1"/>
                </a:solidFill>
              </a:rPr>
              <a:t>“</a:t>
            </a:r>
            <a:r>
              <a:rPr lang="zh-CN" altLang="en-US" sz="1800">
                <a:solidFill>
                  <a:schemeClr val="bg1"/>
                </a:solidFill>
              </a:rPr>
              <a:t>腾讯</a:t>
            </a:r>
            <a:r>
              <a:rPr lang="en-US" altLang="zh-CN" sz="1800">
                <a:solidFill>
                  <a:schemeClr val="bg1"/>
                </a:solidFill>
              </a:rPr>
              <a:t>”“</a:t>
            </a:r>
            <a:r>
              <a:rPr lang="zh-CN" altLang="en-US" sz="1800">
                <a:solidFill>
                  <a:schemeClr val="bg1"/>
                </a:solidFill>
              </a:rPr>
              <a:t>阿里</a:t>
            </a:r>
            <a:r>
              <a:rPr lang="en-US" altLang="zh-CN" sz="1800">
                <a:solidFill>
                  <a:schemeClr val="bg1"/>
                </a:solidFill>
              </a:rPr>
              <a:t>”</a:t>
            </a:r>
            <a:r>
              <a:rPr lang="zh-CN" altLang="en-US" sz="1800">
                <a:solidFill>
                  <a:schemeClr val="bg1"/>
                </a:solidFill>
              </a:rPr>
              <a:t>等，就可以找到对应</a:t>
            </a:r>
            <a:r>
              <a:rPr lang="zh-CN" altLang="en-US" sz="1800">
                <a:solidFill>
                  <a:schemeClr val="bg1"/>
                </a:solidFill>
              </a:rPr>
              <a:t>官方网站。</a:t>
            </a:r>
            <a:endParaRPr lang="zh-CN" altLang="en-US" sz="1800">
              <a:solidFill>
                <a:schemeClr val="bg1"/>
              </a:solidFill>
            </a:endParaRPr>
          </a:p>
          <a:p>
            <a:r>
              <a:rPr lang="zh-CN" altLang="en-US" sz="1800">
                <a:solidFill>
                  <a:schemeClr val="bg1"/>
                </a:solidFill>
              </a:rPr>
              <a:t>如需被搜索引擎收录，需在各搜索引擎的站长平台分别提交站点。</a:t>
            </a:r>
            <a:endParaRPr lang="zh-CN" altLang="en-US" sz="1800">
              <a:solidFill>
                <a:schemeClr val="bg1"/>
              </a:solidFill>
            </a:endParaRPr>
          </a:p>
          <a:p>
            <a:r>
              <a:rPr lang="zh-CN" altLang="en-US" sz="1800">
                <a:solidFill>
                  <a:schemeClr val="bg1"/>
                </a:solidFill>
              </a:rPr>
              <a:t>浏览器 / 搜索引擎 / 站长平台 / 入口地址</a:t>
            </a:r>
            <a:endParaRPr lang="zh-CN" altLang="en-US" sz="1800">
              <a:solidFill>
                <a:schemeClr val="bg1"/>
              </a:solidFill>
            </a:endParaRPr>
          </a:p>
          <a:p>
            <a:r>
              <a:rPr lang="en-US" altLang="zh-CN" sz="1800">
                <a:solidFill>
                  <a:schemeClr val="bg1"/>
                </a:solidFill>
              </a:rPr>
              <a:t>Chrome（默认百度）/ 百度搜索资源平台 / </a:t>
            </a:r>
            <a:r>
              <a:rPr lang="en-US" altLang="zh-CN" sz="1800">
                <a:solidFill>
                  <a:schemeClr val="bg1"/>
                </a:solidFill>
                <a:hlinkClick r:id="rId2"/>
              </a:rPr>
              <a:t>https://ziyuan.baidu.com</a:t>
            </a:r>
            <a:endParaRPr lang="en-US" altLang="zh-CN" sz="1800">
              <a:solidFill>
                <a:schemeClr val="bg1"/>
              </a:solidFill>
            </a:endParaRPr>
          </a:p>
          <a:p>
            <a:r>
              <a:rPr lang="en-US" altLang="zh-CN" sz="1800">
                <a:solidFill>
                  <a:schemeClr val="bg1"/>
                </a:solidFill>
              </a:rPr>
              <a:t>Edge / Bing 站长工具 / </a:t>
            </a:r>
            <a:r>
              <a:rPr lang="en-US" altLang="zh-CN" sz="1800">
                <a:solidFill>
                  <a:schemeClr val="bg1"/>
                </a:solidFill>
                <a:hlinkClick r:id="rId3"/>
              </a:rPr>
              <a:t>https://www.bing.com/webmasters</a:t>
            </a:r>
            <a:endParaRPr lang="en-US" altLang="zh-CN" sz="1800">
              <a:solidFill>
                <a:schemeClr val="bg1"/>
              </a:solidFill>
            </a:endParaRPr>
          </a:p>
          <a:p>
            <a:r>
              <a:rPr lang="zh-CN" altLang="en-US" sz="1800">
                <a:solidFill>
                  <a:schemeClr val="bg1"/>
                </a:solidFill>
              </a:rPr>
              <a:t>360 浏览器 / 360 站长平台 / </a:t>
            </a:r>
            <a:r>
              <a:rPr lang="en-US" altLang="zh-CN" sz="1800">
                <a:solidFill>
                  <a:schemeClr val="bg1"/>
                </a:solidFill>
                <a:hlinkClick r:id="rId4"/>
              </a:rPr>
              <a:t>https://zhanzhang.so.com</a:t>
            </a:r>
            <a:endParaRPr lang="en-US" altLang="zh-CN" sz="1800">
              <a:solidFill>
                <a:schemeClr val="bg1"/>
              </a:solidFill>
            </a:endParaRPr>
          </a:p>
          <a:p>
            <a:r>
              <a:rPr lang="en-US" altLang="zh-CN" sz="1800">
                <a:solidFill>
                  <a:schemeClr val="bg1"/>
                </a:solidFill>
              </a:rPr>
              <a:t>QQ 浏览器 / 搜狗站长平台 / </a:t>
            </a:r>
            <a:r>
              <a:rPr lang="en-US" altLang="zh-CN" sz="1800">
                <a:solidFill>
                  <a:schemeClr val="bg1"/>
                </a:solidFill>
                <a:hlinkClick r:id="rId5"/>
              </a:rPr>
              <a:t>https://zhanzhang.sogou.com</a:t>
            </a:r>
            <a:endParaRPr lang="en-US" altLang="zh-CN" sz="1800">
              <a:solidFill>
                <a:schemeClr val="bg1"/>
              </a:solidFill>
            </a:endParaRPr>
          </a:p>
          <a:p>
            <a:r>
              <a:rPr lang="en-US" altLang="zh-CN" sz="1800">
                <a:solidFill>
                  <a:schemeClr val="bg1"/>
                </a:solidFill>
              </a:rPr>
              <a:t>UC 浏览器（移动端）/ 神马站长平台 / </a:t>
            </a:r>
            <a:r>
              <a:rPr lang="en-US" altLang="zh-CN" sz="1800">
                <a:solidFill>
                  <a:schemeClr val="bg1"/>
                </a:solidFill>
                <a:hlinkClick r:id="rId6"/>
              </a:rPr>
              <a:t>https://zhanzhang.sm.cn</a:t>
            </a:r>
            <a:endParaRPr lang="zh-CN" altLang="en-US" sz="1800">
              <a:solidFill>
                <a:schemeClr val="bg1"/>
              </a:solidFill>
            </a:endParaRPr>
          </a:p>
        </p:txBody>
      </p:sp>
      <p:sp>
        <p:nvSpPr>
          <p:cNvPr id="180" name="文本框 4"/>
          <p:cNvSpPr txBox="1"/>
          <p:nvPr/>
        </p:nvSpPr>
        <p:spPr>
          <a:xfrm>
            <a:off x="429260" y="3028315"/>
            <a:ext cx="4436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1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3" name="文本框 5"/>
          <p:cNvSpPr txBox="1"/>
          <p:nvPr/>
        </p:nvSpPr>
        <p:spPr>
          <a:xfrm>
            <a:off x="410210" y="134620"/>
            <a:ext cx="3725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bg1"/>
                </a:solidFill>
                <a:sym typeface="+mn-ea"/>
              </a:rPr>
              <a:t>以百度为例</a:t>
            </a:r>
            <a:endParaRPr lang="zh-CN" altLang="en-US" sz="3600">
              <a:solidFill>
                <a:schemeClr val="bg1"/>
              </a:solidFill>
            </a:endParaRPr>
          </a:p>
        </p:txBody>
      </p:sp>
      <p:pic>
        <p:nvPicPr>
          <p:cNvPr id="184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15" y="1315085"/>
            <a:ext cx="9682480" cy="5542915"/>
          </a:xfrm>
          <a:prstGeom prst="rect">
            <a:avLst/>
          </a:prstGeom>
        </p:spPr>
      </p:pic>
      <p:sp>
        <p:nvSpPr>
          <p:cNvPr id="185" name="文本框 3"/>
          <p:cNvSpPr txBox="1"/>
          <p:nvPr/>
        </p:nvSpPr>
        <p:spPr>
          <a:xfrm>
            <a:off x="303530" y="798830"/>
            <a:ext cx="11348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注册并登录账号，进入用户中心，点击「站点管理」。</a:t>
            </a:r>
            <a:endParaRPr lang="zh-CN" altLang="en-US" sz="1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8" name="文本框 5"/>
          <p:cNvSpPr txBox="1"/>
          <p:nvPr/>
        </p:nvSpPr>
        <p:spPr>
          <a:xfrm>
            <a:off x="410210" y="134620"/>
            <a:ext cx="3725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bg1"/>
                </a:solidFill>
                <a:sym typeface="+mn-ea"/>
              </a:rPr>
              <a:t>以百度为例</a:t>
            </a:r>
            <a:endParaRPr lang="zh-CN" altLang="en-US" sz="3600">
              <a:solidFill>
                <a:schemeClr val="bg1"/>
              </a:solidFill>
            </a:endParaRPr>
          </a:p>
        </p:txBody>
      </p:sp>
      <p:pic>
        <p:nvPicPr>
          <p:cNvPr id="189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75" y="1572895"/>
            <a:ext cx="9473565" cy="5205095"/>
          </a:xfrm>
          <a:prstGeom prst="rect">
            <a:avLst/>
          </a:prstGeom>
        </p:spPr>
      </p:pic>
      <p:sp>
        <p:nvSpPr>
          <p:cNvPr id="190" name="文本框 3"/>
          <p:cNvSpPr txBox="1"/>
          <p:nvPr/>
        </p:nvSpPr>
        <p:spPr>
          <a:xfrm>
            <a:off x="540385" y="762000"/>
            <a:ext cx="97840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添加网站：输入域名并填写站点信息。验证方式可选文件验证或代码验证，前者需将校验文件置于项目根目录并重启服务，两种方式可按需选择。</a:t>
            </a:r>
            <a:endParaRPr lang="zh-CN" altLang="en-US" sz="1800">
              <a:solidFill>
                <a:schemeClr val="bg1"/>
              </a:solidFill>
            </a:endParaRPr>
          </a:p>
        </p:txBody>
      </p:sp>
      <p:pic>
        <p:nvPicPr>
          <p:cNvPr id="191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7610" y="1889125"/>
            <a:ext cx="1675130" cy="132905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4" name="文本框 5"/>
          <p:cNvSpPr txBox="1"/>
          <p:nvPr/>
        </p:nvSpPr>
        <p:spPr>
          <a:xfrm>
            <a:off x="410210" y="134620"/>
            <a:ext cx="3725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bg1"/>
                </a:solidFill>
                <a:sym typeface="+mn-ea"/>
              </a:rPr>
              <a:t>以百度为例</a:t>
            </a:r>
            <a:endParaRPr lang="zh-CN" altLang="en-US" sz="3600">
              <a:solidFill>
                <a:schemeClr val="bg1"/>
              </a:solidFill>
            </a:endParaRPr>
          </a:p>
        </p:txBody>
      </p:sp>
      <p:sp>
        <p:nvSpPr>
          <p:cNvPr id="195" name="文本框 2"/>
          <p:cNvSpPr txBox="1"/>
          <p:nvPr/>
        </p:nvSpPr>
        <p:spPr>
          <a:xfrm>
            <a:off x="443865" y="932180"/>
            <a:ext cx="112509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</a:rPr>
              <a:t>其余平台流程相同，仅填写信息略有差异。神马平台的抓取机制与其他平台不同，收录时可能出现异常。</a:t>
            </a:r>
            <a:endParaRPr lang="zh-CN" altLang="en-US" sz="1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8" name="AutoShape 3"/>
          <p:cNvSpPr/>
          <p:nvPr/>
        </p:nvSpPr>
        <p:spPr>
          <a:xfrm>
            <a:off x="-381000" y="-381000"/>
            <a:ext cx="1270000" cy="1270000"/>
          </a:xfrm>
          <a:prstGeom prst="ellipse">
            <a:avLst/>
          </a:prstGeom>
          <a:solidFill>
            <a:srgbClr val="34D399">
              <a:alpha val="15000"/>
            </a:srgbClr>
          </a:solidFill>
          <a:ln cap="flat" cmpd="sng">
            <a:solidFill>
              <a:srgbClr val="1BB98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9" name="AutoShape 4"/>
          <p:cNvSpPr/>
          <p:nvPr/>
        </p:nvSpPr>
        <p:spPr>
          <a:xfrm>
            <a:off x="10541000" y="5207000"/>
            <a:ext cx="2032000" cy="2032000"/>
          </a:xfrm>
          <a:prstGeom prst="ellipse">
            <a:avLst/>
          </a:prstGeom>
          <a:solidFill>
            <a:srgbClr val="34D399">
              <a:alpha val="12000"/>
            </a:srgbClr>
          </a:solidFill>
          <a:ln cap="flat" cmpd="sng">
            <a:solidFill>
              <a:srgbClr val="1BB980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0" name="AutoShape 5"/>
          <p:cNvSpPr/>
          <p:nvPr/>
        </p:nvSpPr>
        <p:spPr>
          <a:xfrm>
            <a:off x="1016000" y="3048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Q&amp;A</a:t>
            </a:r>
            <a:endParaRPr lang="en-US" sz="1100"/>
          </a:p>
        </p:txBody>
      </p:sp>
      <p:sp>
        <p:nvSpPr>
          <p:cNvPr id="201" name="AutoShape 6"/>
          <p:cNvSpPr/>
          <p:nvPr/>
        </p:nvSpPr>
        <p:spPr>
          <a:xfrm>
            <a:off x="1016000" y="444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感谢阅读</a:t>
            </a:r>
            <a:endParaRPr lang="en-US" sz="1100"/>
          </a:p>
        </p:txBody>
      </p:sp>
      <p:sp>
        <p:nvSpPr>
          <p:cNvPr id="202" name="AutoShape 7"/>
          <p:cNvSpPr/>
          <p:nvPr/>
        </p:nvSpPr>
        <p:spPr>
          <a:xfrm>
            <a:off x="1016000" y="5334000"/>
            <a:ext cx="825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关于网站部署、架构设计或性能优化的任何疑问，欢迎随时提出，共同探讨交流。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9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0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9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20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2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2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2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2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30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29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3165</Words>
  <Application>WPS 演示</Application>
  <PresentationFormat/>
  <Paragraphs>192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33</vt:i4>
      </vt:variant>
      <vt:variant>
        <vt:lpstr>幻灯片标题</vt:lpstr>
      </vt:variant>
      <vt:variant>
        <vt:i4>33</vt:i4>
      </vt:variant>
    </vt:vector>
  </HeadingPairs>
  <TitlesOfParts>
    <vt:vector size="73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1_默认主题</vt:lpstr>
      <vt:lpstr>2_默认主题</vt:lpstr>
      <vt:lpstr>3_默认主题</vt:lpstr>
      <vt:lpstr>4_默认主题</vt:lpstr>
      <vt:lpstr>5_默认主题</vt:lpstr>
      <vt:lpstr>6_默认主题</vt:lpstr>
      <vt:lpstr>7_默认主题</vt:lpstr>
      <vt:lpstr>8_默认主题</vt:lpstr>
      <vt:lpstr>9_默认主题</vt:lpstr>
      <vt:lpstr>10_默认主题</vt:lpstr>
      <vt:lpstr>11_默认主题</vt:lpstr>
      <vt:lpstr>12_默认主题</vt:lpstr>
      <vt:lpstr>13_默认主题</vt:lpstr>
      <vt:lpstr>14_默认主题</vt:lpstr>
      <vt:lpstr>15_默认主题</vt:lpstr>
      <vt:lpstr>16_默认主题</vt:lpstr>
      <vt:lpstr>17_默认主题</vt:lpstr>
      <vt:lpstr>19_默认主题</vt:lpstr>
      <vt:lpstr>20_默认主题</vt:lpstr>
      <vt:lpstr>21_默认主题</vt:lpstr>
      <vt:lpstr>22_默认主题</vt:lpstr>
      <vt:lpstr>23_默认主题</vt:lpstr>
      <vt:lpstr>24_默认主题</vt:lpstr>
      <vt:lpstr>25_默认主题</vt:lpstr>
      <vt:lpstr>26_默认主题</vt:lpstr>
      <vt:lpstr>27_默认主题</vt:lpstr>
      <vt:lpstr>28_默认主题</vt:lpstr>
      <vt:lpstr>30_默认主题</vt:lpstr>
      <vt:lpstr>18_默认主题</vt:lpstr>
      <vt:lpstr>29_默认主题</vt:lpstr>
      <vt:lpstr>31_默认主题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·</cp:lastModifiedBy>
  <cp:revision>1</cp:revision>
  <dcterms:created xsi:type="dcterms:W3CDTF">2026-09-03T07:43:13Z</dcterms:created>
  <dcterms:modified xsi:type="dcterms:W3CDTF">2026-09-03T07:43:13Z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46CC5053ED4D479786ACE16284360AFC_12</vt:lpwstr>
  </property>
  <property fmtid="{D5CDD505-2E9C-101B-9397-08002B2CF9AE}" pid="3" name="KSOProductBuildVer">
    <vt:lpwstr>2052-12.1.0.28043</vt:lpwstr>
  </property>
</Properties>
</file>